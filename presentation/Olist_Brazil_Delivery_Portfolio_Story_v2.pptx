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af1599ce-ab1c-c7bd-6186-583a698a5f23}">
          <p14:sldIdLst>
            <p14:sldId id="256"/>
            <p14:sldId id="257"/>
            <p14:sldId id="258"/>
          </p14:sldIdLst>
        </p14:section>
        <p14:section name="Diagnosis" id="{94ba0708-af18-cb39-e916-373a6b3aafea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Action" id="{23fdb753-65ba-e5cf-87cd-f9fc171e3dda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Share of late orders by delay severity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late orders (%)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1–2 days</c:v>
                  </c:pt>
                  <c:pt idx="1">
                    <c:v>3–5 days</c:v>
                  </c:pt>
                  <c:pt idx="2">
                    <c:v>6–10 days</c:v>
                  </c:pt>
                  <c:pt idx="3">
                    <c:v>&gt;10 days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20.97</c:v>
                </c:pt>
                <c:pt idx="1">
                  <c:v>21.43</c:v>
                </c:pt>
                <c:pt idx="2">
                  <c:v>25.59</c:v>
                </c:pt>
                <c:pt idx="3">
                  <c:v>32.02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Late rate by customer state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rate (%)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MA</c:v>
                  </c:pt>
                  <c:pt idx="1">
                    <c:v>CE</c:v>
                  </c:pt>
                  <c:pt idx="2">
                    <c:v>BA</c:v>
                  </c:pt>
                  <c:pt idx="3">
                    <c:v>RJ</c:v>
                  </c:pt>
                  <c:pt idx="4">
                    <c:v>ES</c:v>
                  </c:pt>
                  <c:pt idx="5">
                    <c:v>PE</c:v>
                  </c:pt>
                  <c:pt idx="6">
                    <c:v>SC</c:v>
                  </c:pt>
                  <c:pt idx="7">
                    <c:v>MG</c:v>
                  </c:pt>
                  <c:pt idx="8">
                    <c:v>SP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17.43</c:v>
                </c:pt>
                <c:pt idx="1">
                  <c:v>13.76</c:v>
                </c:pt>
                <c:pt idx="2">
                  <c:v>12.16</c:v>
                </c:pt>
                <c:pt idx="3">
                  <c:v>12.11</c:v>
                </c:pt>
                <c:pt idx="4">
                  <c:v>10.73</c:v>
                </c:pt>
                <c:pt idx="5">
                  <c:v>9.6</c:v>
                </c:pt>
                <c:pt idx="6">
                  <c:v>8.21</c:v>
                </c:pt>
                <c:pt idx="7">
                  <c:v>4.57</c:v>
                </c:pt>
                <c:pt idx="8">
                  <c:v>4.49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Average days per delivery stage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orders</c:v>
                </c:pt>
              </c:strCache>
            </c:strRef>
          </c:tx>
          <c:spPr>
            <a:solidFill>
              <a:srgbClr val="17A39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Seller handling</c:v>
                  </c:pt>
                  <c:pt idx="1">
                    <c:v>Carrier transit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3.45</c:v>
                </c:pt>
                <c:pt idx="1">
                  <c:v>9.1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Late orders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Seller handling</c:v>
                  </c:pt>
                  <c:pt idx="1">
                    <c:v>Carrier transit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6.49</c:v>
                </c:pt>
                <c:pt idx="1">
                  <c:v>29.01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Late rate by shipping distance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rate (%)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&lt;100 km</c:v>
                  </c:pt>
                  <c:pt idx="1">
                    <c:v>101–300 km</c:v>
                  </c:pt>
                  <c:pt idx="2">
                    <c:v>301–500 km</c:v>
                  </c:pt>
                  <c:pt idx="3">
                    <c:v>501–1,000 km</c:v>
                  </c:pt>
                  <c:pt idx="4">
                    <c:v>1,001–2,000 km</c:v>
                  </c:pt>
                  <c:pt idx="5">
                    <c:v>&gt;2,000 km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4.42</c:v>
                </c:pt>
                <c:pt idx="1">
                  <c:v>5.16</c:v>
                </c:pt>
                <c:pt idx="2">
                  <c:v>6.58</c:v>
                </c:pt>
                <c:pt idx="3">
                  <c:v>7.07</c:v>
                </c:pt>
                <c:pt idx="4">
                  <c:v>9.51</c:v>
                </c:pt>
                <c:pt idx="5">
                  <c:v>12.09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Late rate by shipment weight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rate (%)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0–1 kg</c:v>
                  </c:pt>
                  <c:pt idx="1">
                    <c:v>1–3 kg</c:v>
                  </c:pt>
                  <c:pt idx="2">
                    <c:v>3–5 kg</c:v>
                  </c:pt>
                  <c:pt idx="3">
                    <c:v>5–10 kg</c:v>
                  </c:pt>
                  <c:pt idx="4">
                    <c:v>&gt;10 kg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6.46</c:v>
                </c:pt>
                <c:pt idx="1">
                  <c:v>6.93</c:v>
                </c:pt>
                <c:pt idx="2">
                  <c:v>6.93</c:v>
                </c:pt>
                <c:pt idx="3">
                  <c:v>7.06</c:v>
                </c:pt>
                <c:pt idx="4">
                  <c:v>8.86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Monthly late rate (selected months)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rate (%)</c:v>
                </c:pt>
              </c:strCache>
            </c:strRef>
          </c:tx>
          <c:spPr>
            <a:solidFill>
              <a:srgbClr val="E4572E"/>
            </a:solidFill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Apr-17</c:v>
                  </c:pt>
                  <c:pt idx="1">
                    <c:v>Jul-17</c:v>
                  </c:pt>
                  <c:pt idx="2">
                    <c:v>Oct-17</c:v>
                  </c:pt>
                  <c:pt idx="3">
                    <c:v>Nov-17</c:v>
                  </c:pt>
                  <c:pt idx="4">
                    <c:v>Dec-17</c:v>
                  </c:pt>
                  <c:pt idx="5">
                    <c:v>Jan-18</c:v>
                  </c:pt>
                  <c:pt idx="6">
                    <c:v>Feb-18</c:v>
                  </c:pt>
                  <c:pt idx="7">
                    <c:v>Mar-18</c:v>
                  </c:pt>
                  <c:pt idx="8">
                    <c:v>Apr-18</c:v>
                  </c:pt>
                  <c:pt idx="9">
                    <c:v>Jun-18</c:v>
                  </c:pt>
                  <c:pt idx="10">
                    <c:v>Aug-18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6.6</c:v>
                </c:pt>
                <c:pt idx="1">
                  <c:v>2.8</c:v>
                </c:pt>
                <c:pt idx="2">
                  <c:v>4.2</c:v>
                </c:pt>
                <c:pt idx="3">
                  <c:v>12.4</c:v>
                </c:pt>
                <c:pt idx="4">
                  <c:v>7.4</c:v>
                </c:pt>
                <c:pt idx="5">
                  <c:v>5.7</c:v>
                </c:pt>
                <c:pt idx="6">
                  <c:v>14.13</c:v>
                </c:pt>
                <c:pt idx="7">
                  <c:v>18.96</c:v>
                </c:pt>
                <c:pt idx="8">
                  <c:v>4.5</c:v>
                </c:pt>
                <c:pt idx="9">
                  <c:v>1.2</c:v>
                </c:pt>
                <c:pt idx="10">
                  <c:v>6.2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Excess late orders vs 6.77% benchmark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Excess late orders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SP → RJ</c:v>
                  </c:pt>
                  <c:pt idx="1">
                    <c:v>SP → BA</c:v>
                  </c:pt>
                  <c:pt idx="2">
                    <c:v>SP → ES</c:v>
                  </c:pt>
                  <c:pt idx="3">
                    <c:v>SP → CE</c:v>
                  </c:pt>
                  <c:pt idx="4">
                    <c:v>SP → SC</c:v>
                  </c:pt>
                  <c:pt idx="5">
                    <c:v>SP → MA</c:v>
                  </c:pt>
                  <c:pt idx="6">
                    <c:v>PR → RJ</c:v>
                  </c:pt>
                  <c:pt idx="7">
                    <c:v>SP → AL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600</c:v>
                </c:pt>
                <c:pt idx="1">
                  <c:v>136</c:v>
                </c:pt>
                <c:pt idx="2">
                  <c:v>78</c:v>
                </c:pt>
                <c:pt idx="3">
                  <c:v>68</c:v>
                </c:pt>
                <c:pt idx="4">
                  <c:v>62</c:v>
                </c:pt>
                <c:pt idx="5">
                  <c:v>59</c:v>
                </c:pt>
                <c:pt idx="6">
                  <c:v>51</c:v>
                </c:pt>
                <c:pt idx="7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answer-first framing: one headline number (6.77% late), then the question — is this a broad problem or a concentrated one? Mention the data source (Olist public dataset, Kaggle) and that the analysis was done in Python/pandas.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one-slide version of the project. If a recruiter reads only one slide, it should be this one: four converging pieces of evidence and a concrete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business question as a decision: broad problem vs. concentrated problem. The six lenses are the structure of the next slides. Goal: move from descriptive EDA to an executable operations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one in three late orders is more than 10 days late. That is what justifies a root-cause investigation rather than a tweak to delivery promises.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counts mislead: SP leads on late orders only because of volume. RJ combines high volume with a late rate nearly double the network average. This is the first place where 'excess' beats 'count' as a prioritisation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pivotal slide. Seller handling adds ~3 days on late orders; carrier transit adds ~20. The diagnosis moves from 'sellers are slow' to 'the network is slow'.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 rate climbs monotonically with distance. Every band above 500 km is above the network average; beyond 2,000 km the late rate is about 2.7x the shortest band.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Category differences are small (about 3.7 percentage points). Weight shows a modest uplift only above 10 kg (8.86%). Useful for a targeted handling rule, but not the first lever.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 rate spikes in Nov-17, Feb-18 and peaks at 18.96% in Mar-18 — alongside longer carrier transit. That points to capacity planning, not seller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Excess late orders = orders x (lane late rate - network benchmark of 6.77%). SP-&gt;RJ alone accounts for 600. The eight lanes shown sum to about 1,100 excess orders, roughly 17% of the 6,534 late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analytical judgement: seven hypotheses, four primary drivers, two secondary levers, one minor factor. Everything points at network design and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 from insight to decision to KPI. Phase 1 audits the four highest-excess lanes; phase 2 pilots capacity and routing changes; phase 3 scales and institutionalises with a monthly lane scorecard.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arc: problem, decomposition, insight, action. Then point to the repository for code and notebooks.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69848"/>
            <a:ext cx="1109167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Olist Brazil · Delivery performance case study · Udit Gupta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69848"/>
            <a:ext cx="1109167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Olist Brazil · Delivery performance case study · Udit Gupta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83080"/>
            <a:ext cx="65836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62179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234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PORTFOLIO CASE STUDY  ·  OLIST BRAZIL E-COMMERCE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78308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chemeClr val="bg1"/>
                </a:solidFill>
              </a:rPr>
              <a:t>Why are customers waiting?</a:t>
            </a:r>
            <a:endParaRPr lang="en-US" sz="5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490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 Python-led investigation of delivery performance: from business problem to root cause to a 90-day action plan</a:t>
            </a:r>
            <a:endParaRPr lang="en-US" sz="2000" dirty="0"/>
          </a:p>
        </p:txBody>
      </p:sp>
      <p:sp>
        <p:nvSpPr>
          <p:cNvPr id="5" name="Author"/>
          <p:cNvSpPr txBox="1"/>
          <p:nvPr/>
        </p:nvSpPr>
        <p:spPr>
          <a:xfrm>
            <a:off x="73152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Udit Gupta</a:t>
            </a:r>
            <a:endParaRPr lang="en-US" sz="2000" dirty="0"/>
          </a:p>
        </p:txBody>
      </p:sp>
      <p:sp>
        <p:nvSpPr>
          <p:cNvPr id="6" name="Skills"/>
          <p:cNvSpPr txBox="1"/>
          <p:nvPr/>
        </p:nvSpPr>
        <p:spPr>
          <a:xfrm>
            <a:off x="731520" y="5669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Python · pandas · operational analytics · strategy</a:t>
            </a:r>
            <a:endParaRPr lang="en-US" sz="1400" dirty="0"/>
          </a:p>
        </p:txBody>
      </p:sp>
      <p:sp>
        <p:nvSpPr>
          <p:cNvPr id="7" name="Hero card"/>
          <p:cNvSpPr/>
          <p:nvPr/>
        </p:nvSpPr>
        <p:spPr>
          <a:xfrm>
            <a:off x="7818120" y="1463040"/>
            <a:ext cx="3822192" cy="4114800"/>
          </a:xfrm>
          <a:prstGeom prst="roundRect">
            <a:avLst>
              <a:gd name="adj" fmla="val 2871"/>
            </a:avLst>
          </a:prstGeom>
          <a:solidFill>
            <a:schemeClr val="accent5"/>
          </a:solidFill>
          <a:ln/>
        </p:spPr>
      </p:sp>
      <p:sp>
        <p:nvSpPr>
          <p:cNvPr id="8" name="Hero number"/>
          <p:cNvSpPr txBox="1"/>
          <p:nvPr/>
        </p:nvSpPr>
        <p:spPr>
          <a:xfrm>
            <a:off x="7818120" y="1965960"/>
            <a:ext cx="3822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6.77%</a:t>
            </a:r>
            <a:endParaRPr lang="en-US" sz="8000" dirty="0"/>
          </a:p>
        </p:txBody>
      </p:sp>
      <p:sp>
        <p:nvSpPr>
          <p:cNvPr id="9" name="Hero label"/>
          <p:cNvSpPr txBox="1"/>
          <p:nvPr/>
        </p:nvSpPr>
        <p:spPr>
          <a:xfrm>
            <a:off x="8229600" y="352044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of delivered orders arrived later than the promised date</a:t>
            </a:r>
            <a:endParaRPr lang="en-US" sz="1800" dirty="0"/>
          </a:p>
        </p:txBody>
      </p:sp>
      <p:sp>
        <p:nvSpPr>
          <p:cNvPr id="10" name="Hero sub"/>
          <p:cNvSpPr txBox="1"/>
          <p:nvPr/>
        </p:nvSpPr>
        <p:spPr>
          <a:xfrm>
            <a:off x="8229600" y="461772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96,470 delivered orders analysed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Olist public dataset (Kaggle)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Late delivery is a network problem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698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Four independent cuts of the data point the same way: fix lanes and peak capacity first, not sellers or product mix.</a:t>
            </a:r>
            <a:endParaRPr lang="en-US" sz="1600" dirty="0"/>
          </a:p>
        </p:txBody>
      </p:sp>
      <p:sp>
        <p:nvSpPr>
          <p:cNvPr id="4" name="Finding card 1"/>
          <p:cNvSpPr/>
          <p:nvPr/>
        </p:nvSpPr>
        <p:spPr>
          <a:xfrm>
            <a:off x="548640" y="178308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5" name="Finding 1 circle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Finding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159813"/>
            <a:ext cx="252374" cy="252374"/>
          </a:xfrm>
          <a:prstGeom prst="rect">
            <a:avLst/>
          </a:prstGeom>
        </p:spPr>
      </p:pic>
      <p:sp>
        <p:nvSpPr>
          <p:cNvPr id="7" name="Finding 1 number"/>
          <p:cNvSpPr txBox="1"/>
          <p:nvPr/>
        </p:nvSpPr>
        <p:spPr>
          <a:xfrm>
            <a:off x="822960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+19.91</a:t>
            </a:r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 days</a:t>
            </a:r>
            <a:endParaRPr lang="en-US" sz="3600" dirty="0"/>
          </a:p>
        </p:txBody>
      </p:sp>
      <p:sp>
        <p:nvSpPr>
          <p:cNvPr id="8" name="Finding 1 label"/>
          <p:cNvSpPr txBox="1"/>
          <p:nvPr/>
        </p:nvSpPr>
        <p:spPr>
          <a:xfrm>
            <a:off x="822960" y="3429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Carrier transit</a:t>
            </a:r>
            <a:endParaRPr lang="en-US" sz="1600" dirty="0"/>
          </a:p>
        </p:txBody>
      </p:sp>
      <p:sp>
        <p:nvSpPr>
          <p:cNvPr id="9" name="Finding 1 text"/>
          <p:cNvSpPr txBox="1"/>
          <p:nvPr/>
        </p:nvSpPr>
        <p:spPr>
          <a:xfrm>
            <a:off x="822960" y="37490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extra transit time on late orders vs on-time orders</a:t>
            </a:r>
            <a:endParaRPr lang="en-US" sz="1400" dirty="0"/>
          </a:p>
        </p:txBody>
      </p:sp>
      <p:sp>
        <p:nvSpPr>
          <p:cNvPr id="10" name="Finding card 2"/>
          <p:cNvSpPr/>
          <p:nvPr/>
        </p:nvSpPr>
        <p:spPr>
          <a:xfrm>
            <a:off x="3376879" y="178308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1" name="Finding 2 circle"/>
          <p:cNvSpPr/>
          <p:nvPr/>
        </p:nvSpPr>
        <p:spPr>
          <a:xfrm>
            <a:off x="3651199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Finding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332" y="2159813"/>
            <a:ext cx="252374" cy="252374"/>
          </a:xfrm>
          <a:prstGeom prst="rect">
            <a:avLst/>
          </a:prstGeom>
        </p:spPr>
      </p:pic>
      <p:sp>
        <p:nvSpPr>
          <p:cNvPr id="13" name="Finding 2 number"/>
          <p:cNvSpPr txBox="1"/>
          <p:nvPr/>
        </p:nvSpPr>
        <p:spPr>
          <a:xfrm>
            <a:off x="3651199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12.09%</a:t>
            </a:r>
            <a:endParaRPr lang="en-US" sz="3600" dirty="0"/>
          </a:p>
        </p:txBody>
      </p:sp>
      <p:sp>
        <p:nvSpPr>
          <p:cNvPr id="14" name="Finding 2 label"/>
          <p:cNvSpPr txBox="1"/>
          <p:nvPr/>
        </p:nvSpPr>
        <p:spPr>
          <a:xfrm>
            <a:off x="3651199" y="3429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Distance</a:t>
            </a:r>
            <a:endParaRPr lang="en-US" sz="1600" dirty="0"/>
          </a:p>
        </p:txBody>
      </p:sp>
      <p:sp>
        <p:nvSpPr>
          <p:cNvPr id="15" name="Finding 2 text"/>
          <p:cNvSpPr txBox="1"/>
          <p:nvPr/>
        </p:nvSpPr>
        <p:spPr>
          <a:xfrm>
            <a:off x="3651199" y="37490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late rate beyond 2,000 km vs 4.42% under 100 km</a:t>
            </a:r>
            <a:endParaRPr lang="en-US" sz="1400" dirty="0"/>
          </a:p>
        </p:txBody>
      </p:sp>
      <p:sp>
        <p:nvSpPr>
          <p:cNvPr id="16" name="Finding card 3"/>
          <p:cNvSpPr/>
          <p:nvPr/>
        </p:nvSpPr>
        <p:spPr>
          <a:xfrm>
            <a:off x="6205118" y="178308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7" name="Finding 3 circle"/>
          <p:cNvSpPr/>
          <p:nvPr/>
        </p:nvSpPr>
        <p:spPr>
          <a:xfrm>
            <a:off x="6479438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Finding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571" y="2159813"/>
            <a:ext cx="252374" cy="252374"/>
          </a:xfrm>
          <a:prstGeom prst="rect">
            <a:avLst/>
          </a:prstGeom>
        </p:spPr>
      </p:pic>
      <p:sp>
        <p:nvSpPr>
          <p:cNvPr id="19" name="Finding 3 number"/>
          <p:cNvSpPr txBox="1"/>
          <p:nvPr/>
        </p:nvSpPr>
        <p:spPr>
          <a:xfrm>
            <a:off x="6479438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18.96%</a:t>
            </a:r>
            <a:endParaRPr lang="en-US" sz="3600" dirty="0"/>
          </a:p>
        </p:txBody>
      </p:sp>
      <p:sp>
        <p:nvSpPr>
          <p:cNvPr id="20" name="Finding 3 label"/>
          <p:cNvSpPr txBox="1"/>
          <p:nvPr/>
        </p:nvSpPr>
        <p:spPr>
          <a:xfrm>
            <a:off x="6479438" y="3429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Peak pressure</a:t>
            </a:r>
            <a:endParaRPr lang="en-US" sz="1600" dirty="0"/>
          </a:p>
        </p:txBody>
      </p:sp>
      <p:sp>
        <p:nvSpPr>
          <p:cNvPr id="21" name="Finding 3 text"/>
          <p:cNvSpPr txBox="1"/>
          <p:nvPr/>
        </p:nvSpPr>
        <p:spPr>
          <a:xfrm>
            <a:off x="6479438" y="37490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late rate in March 2018, the network's worst month</a:t>
            </a:r>
            <a:endParaRPr lang="en-US" sz="1400" dirty="0"/>
          </a:p>
        </p:txBody>
      </p:sp>
      <p:sp>
        <p:nvSpPr>
          <p:cNvPr id="22" name="Finding card 4"/>
          <p:cNvSpPr/>
          <p:nvPr/>
        </p:nvSpPr>
        <p:spPr>
          <a:xfrm>
            <a:off x="9033358" y="178308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3" name="Finding 4 circle"/>
          <p:cNvSpPr/>
          <p:nvPr/>
        </p:nvSpPr>
        <p:spPr>
          <a:xfrm>
            <a:off x="9307678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Finding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5810" y="2159813"/>
            <a:ext cx="252374" cy="252374"/>
          </a:xfrm>
          <a:prstGeom prst="rect">
            <a:avLst/>
          </a:prstGeom>
        </p:spPr>
      </p:pic>
      <p:sp>
        <p:nvSpPr>
          <p:cNvPr id="25" name="Finding 4 number"/>
          <p:cNvSpPr txBox="1"/>
          <p:nvPr/>
        </p:nvSpPr>
        <p:spPr>
          <a:xfrm>
            <a:off x="9307678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600</a:t>
            </a:r>
            <a:endParaRPr lang="en-US" sz="3600" dirty="0"/>
          </a:p>
        </p:txBody>
      </p:sp>
      <p:sp>
        <p:nvSpPr>
          <p:cNvPr id="26" name="Finding 4 label"/>
          <p:cNvSpPr txBox="1"/>
          <p:nvPr/>
        </p:nvSpPr>
        <p:spPr>
          <a:xfrm>
            <a:off x="9307678" y="3429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Lane concentration</a:t>
            </a:r>
            <a:endParaRPr lang="en-US" sz="1600" dirty="0"/>
          </a:p>
        </p:txBody>
      </p:sp>
      <p:sp>
        <p:nvSpPr>
          <p:cNvPr id="27" name="Finding 4 text"/>
          <p:cNvSpPr txBox="1"/>
          <p:nvPr/>
        </p:nvSpPr>
        <p:spPr>
          <a:xfrm>
            <a:off x="9307678" y="37490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excess late orders on the SP → RJ lane alone</a:t>
            </a:r>
            <a:endParaRPr lang="en-US" sz="1400" dirty="0"/>
          </a:p>
        </p:txBody>
      </p:sp>
      <p:sp>
        <p:nvSpPr>
          <p:cNvPr id="28" name="Recommendation card"/>
          <p:cNvSpPr/>
          <p:nvPr/>
        </p:nvSpPr>
        <p:spPr>
          <a:xfrm>
            <a:off x="548640" y="507492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29" name="Recommendation label"/>
          <p:cNvSpPr txBox="1"/>
          <p:nvPr/>
        </p:nvSpPr>
        <p:spPr>
          <a:xfrm>
            <a:off x="822960" y="5257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RECOMMENDATION</a:t>
            </a:r>
            <a:endParaRPr lang="en-US" sz="1200" dirty="0"/>
          </a:p>
        </p:txBody>
      </p:sp>
      <p:sp>
        <p:nvSpPr>
          <p:cNvPr id="30" name="Recommendation text"/>
          <p:cNvSpPr txBox="1"/>
          <p:nvPr/>
        </p:nvSpPr>
        <p:spPr>
          <a:xfrm>
            <a:off x="822960" y="553212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Audit and reallocate carrier capacity on the highest-excess lanes (SP→RJ, SP→BA, SP→ES, SP→CE), plan capacity for peak season, and govern with a monthly lane scorecard.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6.77% headline hides a deeper problem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698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96,470 delivered orders give enough scale to decompose the metric instead of just reporting it.</a:t>
            </a:r>
            <a:endParaRPr lang="en-US" sz="1600" dirty="0"/>
          </a:p>
        </p:txBody>
      </p:sp>
      <p:sp>
        <p:nvSpPr>
          <p:cNvPr id="4" name="KPI card 1"/>
          <p:cNvSpPr/>
          <p:nvPr/>
        </p:nvSpPr>
        <p:spPr>
          <a:xfrm>
            <a:off x="548640" y="1783080"/>
            <a:ext cx="21031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5" name="KPI 1 value"/>
          <p:cNvSpPr txBox="1"/>
          <p:nvPr/>
        </p:nvSpPr>
        <p:spPr>
          <a:xfrm>
            <a:off x="713232" y="1920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6.77%</a:t>
            </a:r>
            <a:pPr indent="0" marL="0">
              <a:buNone/>
            </a:pPr>
            <a:endParaRPr lang="en-US" sz="3200" dirty="0"/>
          </a:p>
        </p:txBody>
      </p:sp>
      <p:sp>
        <p:nvSpPr>
          <p:cNvPr id="6" name="KPI 1 label"/>
          <p:cNvSpPr txBox="1"/>
          <p:nvPr/>
        </p:nvSpPr>
        <p:spPr>
          <a:xfrm>
            <a:off x="713232" y="2606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orders delivered later than estimated</a:t>
            </a:r>
            <a:endParaRPr lang="en-US" sz="1400" dirty="0"/>
          </a:p>
        </p:txBody>
      </p:sp>
      <p:sp>
        <p:nvSpPr>
          <p:cNvPr id="7" name="KPI card 2"/>
          <p:cNvSpPr/>
          <p:nvPr/>
        </p:nvSpPr>
        <p:spPr>
          <a:xfrm>
            <a:off x="2795778" y="1783080"/>
            <a:ext cx="21031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8" name="KPI 2 value"/>
          <p:cNvSpPr txBox="1"/>
          <p:nvPr/>
        </p:nvSpPr>
        <p:spPr>
          <a:xfrm>
            <a:off x="2960370" y="1920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6,534</a:t>
            </a:r>
            <a:pPr indent="0" marL="0">
              <a:buNone/>
            </a:pPr>
            <a:endParaRPr lang="en-US" sz="3200" dirty="0"/>
          </a:p>
        </p:txBody>
      </p:sp>
      <p:sp>
        <p:nvSpPr>
          <p:cNvPr id="9" name="KPI 2 label"/>
          <p:cNvSpPr txBox="1"/>
          <p:nvPr/>
        </p:nvSpPr>
        <p:spPr>
          <a:xfrm>
            <a:off x="2960370" y="2606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late orders</a:t>
            </a:r>
            <a:endParaRPr lang="en-US" sz="1400" dirty="0"/>
          </a:p>
        </p:txBody>
      </p:sp>
      <p:sp>
        <p:nvSpPr>
          <p:cNvPr id="10" name="KPI card 3"/>
          <p:cNvSpPr/>
          <p:nvPr/>
        </p:nvSpPr>
        <p:spPr>
          <a:xfrm>
            <a:off x="5042916" y="1783080"/>
            <a:ext cx="21031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1" name="KPI 3 value"/>
          <p:cNvSpPr txBox="1"/>
          <p:nvPr/>
        </p:nvSpPr>
        <p:spPr>
          <a:xfrm>
            <a:off x="5207508" y="1920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10.62</a:t>
            </a:r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 days</a:t>
            </a:r>
            <a:endParaRPr lang="en-US" sz="3200" dirty="0"/>
          </a:p>
        </p:txBody>
      </p:sp>
      <p:sp>
        <p:nvSpPr>
          <p:cNvPr id="12" name="KPI 3 label"/>
          <p:cNvSpPr txBox="1"/>
          <p:nvPr/>
        </p:nvSpPr>
        <p:spPr>
          <a:xfrm>
            <a:off x="5207508" y="2606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average delay among late orders</a:t>
            </a:r>
            <a:endParaRPr lang="en-US" sz="1400" dirty="0"/>
          </a:p>
        </p:txBody>
      </p:sp>
      <p:sp>
        <p:nvSpPr>
          <p:cNvPr id="13" name="KPI card 4"/>
          <p:cNvSpPr/>
          <p:nvPr/>
        </p:nvSpPr>
        <p:spPr>
          <a:xfrm>
            <a:off x="7290054" y="1783080"/>
            <a:ext cx="21031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4" name="KPI 4 value"/>
          <p:cNvSpPr txBox="1"/>
          <p:nvPr/>
        </p:nvSpPr>
        <p:spPr>
          <a:xfrm>
            <a:off x="7454646" y="1920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32.0%</a:t>
            </a:r>
            <a:pPr indent="0" marL="0">
              <a:buNone/>
            </a:pPr>
            <a:endParaRPr lang="en-US" sz="3200" dirty="0"/>
          </a:p>
        </p:txBody>
      </p:sp>
      <p:sp>
        <p:nvSpPr>
          <p:cNvPr id="15" name="KPI 4 label"/>
          <p:cNvSpPr txBox="1"/>
          <p:nvPr/>
        </p:nvSpPr>
        <p:spPr>
          <a:xfrm>
            <a:off x="7454646" y="2606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late orders delayed more than 10 days</a:t>
            </a:r>
            <a:endParaRPr lang="en-US" sz="1400" dirty="0"/>
          </a:p>
        </p:txBody>
      </p:sp>
      <p:sp>
        <p:nvSpPr>
          <p:cNvPr id="16" name="KPI card 5"/>
          <p:cNvSpPr/>
          <p:nvPr/>
        </p:nvSpPr>
        <p:spPr>
          <a:xfrm>
            <a:off x="9537192" y="1783080"/>
            <a:ext cx="21031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7" name="KPI 5 value"/>
          <p:cNvSpPr txBox="1"/>
          <p:nvPr/>
        </p:nvSpPr>
        <p:spPr>
          <a:xfrm>
            <a:off x="9701784" y="1920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188</a:t>
            </a:r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 days</a:t>
            </a:r>
            <a:endParaRPr lang="en-US" sz="3200" dirty="0"/>
          </a:p>
        </p:txBody>
      </p:sp>
      <p:sp>
        <p:nvSpPr>
          <p:cNvPr id="18" name="KPI 5 label"/>
          <p:cNvSpPr txBox="1"/>
          <p:nvPr/>
        </p:nvSpPr>
        <p:spPr>
          <a:xfrm>
            <a:off x="9701784" y="2606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maximum observed delay</a:t>
            </a:r>
            <a:endParaRPr lang="en-US" sz="1400" dirty="0"/>
          </a:p>
        </p:txBody>
      </p:sp>
      <p:sp>
        <p:nvSpPr>
          <p:cNvPr id="19" name="Question card"/>
          <p:cNvSpPr/>
          <p:nvPr/>
        </p:nvSpPr>
        <p:spPr>
          <a:xfrm>
            <a:off x="548640" y="3703320"/>
            <a:ext cx="4480560" cy="2468880"/>
          </a:xfrm>
          <a:prstGeom prst="roundRect">
            <a:avLst>
              <a:gd name="adj" fmla="val 4444"/>
            </a:avLst>
          </a:prstGeom>
          <a:solidFill>
            <a:schemeClr val="tx1"/>
          </a:solidFill>
          <a:ln/>
        </p:spPr>
      </p:sp>
      <p:sp>
        <p:nvSpPr>
          <p:cNvPr id="20" name="Question label"/>
          <p:cNvSpPr txBox="1"/>
          <p:nvPr/>
        </p:nvSpPr>
        <p:spPr>
          <a:xfrm>
            <a:off x="82296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QUESTION</a:t>
            </a:r>
            <a:endParaRPr lang="en-US" sz="1200" dirty="0"/>
          </a:p>
        </p:txBody>
      </p:sp>
      <p:sp>
        <p:nvSpPr>
          <p:cNvPr id="21" name="Question text"/>
          <p:cNvSpPr txBox="1"/>
          <p:nvPr/>
        </p:nvSpPr>
        <p:spPr>
          <a:xfrm>
            <a:off x="822960" y="429768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Is late delivery a broad Olist problem, or a concentrated network problem that can be attacked selectively?</a:t>
            </a:r>
            <a:endParaRPr lang="en-US" sz="2000" dirty="0"/>
          </a:p>
        </p:txBody>
      </p:sp>
      <p:sp>
        <p:nvSpPr>
          <p:cNvPr id="22" name="Approach label"/>
          <p:cNvSpPr txBox="1"/>
          <p:nvPr/>
        </p:nvSpPr>
        <p:spPr>
          <a:xfrm>
            <a:off x="539496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HOW I ANSWERED IT</a:t>
            </a:r>
            <a:endParaRPr lang="en-US" sz="1200" dirty="0"/>
          </a:p>
        </p:txBody>
      </p:sp>
      <p:sp>
        <p:nvSpPr>
          <p:cNvPr id="23" name="Steps connector"/>
          <p:cNvSpPr/>
          <p:nvPr/>
        </p:nvSpPr>
        <p:spPr>
          <a:xfrm>
            <a:off x="5915406" y="4754880"/>
            <a:ext cx="520446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24" name="Step 1 circle"/>
          <p:cNvSpPr/>
          <p:nvPr/>
        </p:nvSpPr>
        <p:spPr>
          <a:xfrm>
            <a:off x="5641086" y="448056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5" name="Step 1 number"/>
          <p:cNvSpPr txBox="1"/>
          <p:nvPr/>
        </p:nvSpPr>
        <p:spPr>
          <a:xfrm>
            <a:off x="5641086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6" name="Step 1 label"/>
          <p:cNvSpPr txBox="1"/>
          <p:nvPr/>
        </p:nvSpPr>
        <p:spPr>
          <a:xfrm>
            <a:off x="5394960" y="5138928"/>
            <a:ext cx="1040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Scope</a:t>
            </a:r>
            <a:endParaRPr lang="en-US" sz="1400" dirty="0"/>
          </a:p>
        </p:txBody>
      </p:sp>
      <p:sp>
        <p:nvSpPr>
          <p:cNvPr id="27" name="Step 2 circle"/>
          <p:cNvSpPr/>
          <p:nvPr/>
        </p:nvSpPr>
        <p:spPr>
          <a:xfrm>
            <a:off x="6681978" y="448056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8" name="Step 2 number"/>
          <p:cNvSpPr txBox="1"/>
          <p:nvPr/>
        </p:nvSpPr>
        <p:spPr>
          <a:xfrm>
            <a:off x="6681978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9" name="Step 2 label"/>
          <p:cNvSpPr txBox="1"/>
          <p:nvPr/>
        </p:nvSpPr>
        <p:spPr>
          <a:xfrm>
            <a:off x="6435852" y="5138928"/>
            <a:ext cx="1040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Decompose</a:t>
            </a:r>
            <a:endParaRPr lang="en-US" sz="1400" dirty="0"/>
          </a:p>
        </p:txBody>
      </p:sp>
      <p:sp>
        <p:nvSpPr>
          <p:cNvPr id="30" name="Step 3 circle"/>
          <p:cNvSpPr/>
          <p:nvPr/>
        </p:nvSpPr>
        <p:spPr>
          <a:xfrm>
            <a:off x="7722870" y="448056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1" name="Step 3 number"/>
          <p:cNvSpPr txBox="1"/>
          <p:nvPr/>
        </p:nvSpPr>
        <p:spPr>
          <a:xfrm>
            <a:off x="772287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2" name="Step 3 label"/>
          <p:cNvSpPr txBox="1"/>
          <p:nvPr/>
        </p:nvSpPr>
        <p:spPr>
          <a:xfrm>
            <a:off x="7476744" y="5138928"/>
            <a:ext cx="1040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Locate</a:t>
            </a:r>
            <a:endParaRPr lang="en-US" sz="1400" dirty="0"/>
          </a:p>
        </p:txBody>
      </p:sp>
      <p:sp>
        <p:nvSpPr>
          <p:cNvPr id="33" name="Step 4 circle"/>
          <p:cNvSpPr/>
          <p:nvPr/>
        </p:nvSpPr>
        <p:spPr>
          <a:xfrm>
            <a:off x="8763762" y="448056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4" name="Step 4 number"/>
          <p:cNvSpPr txBox="1"/>
          <p:nvPr/>
        </p:nvSpPr>
        <p:spPr>
          <a:xfrm>
            <a:off x="8763762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5" name="Step 4 label"/>
          <p:cNvSpPr txBox="1"/>
          <p:nvPr/>
        </p:nvSpPr>
        <p:spPr>
          <a:xfrm>
            <a:off x="8517636" y="5138928"/>
            <a:ext cx="1040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Explain</a:t>
            </a:r>
            <a:endParaRPr lang="en-US" sz="1400" dirty="0"/>
          </a:p>
        </p:txBody>
      </p:sp>
      <p:sp>
        <p:nvSpPr>
          <p:cNvPr id="36" name="Step 5 circle"/>
          <p:cNvSpPr/>
          <p:nvPr/>
        </p:nvSpPr>
        <p:spPr>
          <a:xfrm>
            <a:off x="9804654" y="4480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Step 5 number"/>
          <p:cNvSpPr txBox="1"/>
          <p:nvPr/>
        </p:nvSpPr>
        <p:spPr>
          <a:xfrm>
            <a:off x="9804654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8" name="Step 5 label"/>
          <p:cNvSpPr txBox="1"/>
          <p:nvPr/>
        </p:nvSpPr>
        <p:spPr>
          <a:xfrm>
            <a:off x="9558528" y="5138928"/>
            <a:ext cx="1040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Prioritize</a:t>
            </a:r>
            <a:endParaRPr lang="en-US" sz="1400" dirty="0"/>
          </a:p>
        </p:txBody>
      </p:sp>
      <p:sp>
        <p:nvSpPr>
          <p:cNvPr id="39" name="Step 6 circle"/>
          <p:cNvSpPr/>
          <p:nvPr/>
        </p:nvSpPr>
        <p:spPr>
          <a:xfrm>
            <a:off x="10845546" y="448056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0" name="Step 6 number"/>
          <p:cNvSpPr txBox="1"/>
          <p:nvPr/>
        </p:nvSpPr>
        <p:spPr>
          <a:xfrm>
            <a:off x="10845546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41" name="Step 6 label"/>
          <p:cNvSpPr txBox="1"/>
          <p:nvPr/>
        </p:nvSpPr>
        <p:spPr>
          <a:xfrm>
            <a:off x="10599420" y="5138928"/>
            <a:ext cx="1040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Act</a:t>
            </a:r>
            <a:endParaRPr lang="en-US" sz="1400" dirty="0"/>
          </a:p>
        </p:txBody>
      </p:sp>
      <p:sp>
        <p:nvSpPr>
          <p:cNvPr id="42" name="Lenses"/>
          <p:cNvSpPr txBox="1"/>
          <p:nvPr/>
        </p:nvSpPr>
        <p:spPr>
          <a:xfrm>
            <a:off x="5394960" y="5669280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Six lenses: severity · geography · stage · distance · product · seasonality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When orders are late, they are very late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698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Severity matters: a 1-day miss and a 20-day miss are different customer and operations problems.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Insight panel"/>
          <p:cNvSpPr/>
          <p:nvPr/>
        </p:nvSpPr>
        <p:spPr>
          <a:xfrm>
            <a:off x="7772400" y="1783080"/>
            <a:ext cx="3867912" cy="4389120"/>
          </a:xfrm>
          <a:prstGeom prst="roundRect">
            <a:avLst>
              <a:gd name="adj" fmla="val 2837"/>
            </a:avLst>
          </a:prstGeom>
          <a:solidFill>
            <a:schemeClr val="bg2"/>
          </a:solidFill>
          <a:ln/>
        </p:spPr>
      </p:sp>
      <p:sp>
        <p:nvSpPr>
          <p:cNvPr id="6" name="Insight number"/>
          <p:cNvSpPr txBox="1"/>
          <p:nvPr/>
        </p:nvSpPr>
        <p:spPr>
          <a:xfrm>
            <a:off x="8046720" y="2011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32%</a:t>
            </a:r>
            <a:endParaRPr lang="en-US" sz="6600" dirty="0"/>
          </a:p>
        </p:txBody>
      </p:sp>
      <p:sp>
        <p:nvSpPr>
          <p:cNvPr id="7" name="Insight label"/>
          <p:cNvSpPr txBox="1"/>
          <p:nvPr/>
        </p:nvSpPr>
        <p:spPr>
          <a:xfrm>
            <a:off x="8046720" y="31089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of late orders were delayed more than 10 days</a:t>
            </a:r>
            <a:endParaRPr lang="en-US" sz="1800" dirty="0"/>
          </a:p>
        </p:txBody>
      </p:sp>
      <p:sp>
        <p:nvSpPr>
          <p:cNvPr id="8" name="Implication label"/>
          <p:cNvSpPr txBox="1"/>
          <p:nvPr/>
        </p:nvSpPr>
        <p:spPr>
          <a:xfrm>
            <a:off x="8046720" y="4114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IMPLICATION</a:t>
            </a:r>
            <a:endParaRPr lang="en-US" sz="1200" dirty="0"/>
          </a:p>
        </p:txBody>
      </p:sp>
      <p:sp>
        <p:nvSpPr>
          <p:cNvPr id="9" name="Implication text"/>
          <p:cNvSpPr txBox="1"/>
          <p:nvPr/>
        </p:nvSpPr>
        <p:spPr>
          <a:xfrm>
            <a:off x="8046720" y="44348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This is not just service-level slippage. A meaningful share of failures is severe enough to warrant root-cause investigation.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Lateness is concentrated, not national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698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Customer-state performance varies far more than product-category performance. Network average: 6.77%.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7665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rap panel"/>
          <p:cNvSpPr/>
          <p:nvPr/>
        </p:nvSpPr>
        <p:spPr>
          <a:xfrm>
            <a:off x="7589520" y="1783080"/>
            <a:ext cx="4050792" cy="4389120"/>
          </a:xfrm>
          <a:prstGeom prst="roundRect">
            <a:avLst>
              <a:gd name="adj" fmla="val 2709"/>
            </a:avLst>
          </a:prstGeom>
          <a:solidFill>
            <a:schemeClr val="bg2"/>
          </a:solidFill>
          <a:ln/>
        </p:spPr>
      </p:sp>
      <p:sp>
        <p:nvSpPr>
          <p:cNvPr id="6" name="Trap label"/>
          <p:cNvSpPr txBox="1"/>
          <p:nvPr/>
        </p:nvSpPr>
        <p:spPr>
          <a:xfrm>
            <a:off x="7818120" y="2011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 TRAP</a:t>
            </a:r>
            <a:endParaRPr lang="en-US" sz="1200" dirty="0"/>
          </a:p>
        </p:txBody>
      </p:sp>
      <p:sp>
        <p:nvSpPr>
          <p:cNvPr id="7" name="Trap text"/>
          <p:cNvSpPr txBox="1"/>
          <p:nvPr/>
        </p:nvSpPr>
        <p:spPr>
          <a:xfrm>
            <a:off x="7818120" y="23317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 has the most late orders because it is huge, but its late rate is below the network average.</a:t>
            </a:r>
            <a:endParaRPr lang="en-US" sz="1600" dirty="0"/>
          </a:p>
        </p:txBody>
      </p:sp>
      <p:graphicFrame>
        <p:nvGraphicFramePr>
          <p:cNvPr id="6" name="SP vs RJ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3337560"/>
          <a:ext cx="361188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143000"/>
                <a:gridCol w="822960"/>
                <a:gridCol w="960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State</a:t>
                      </a:r>
                      <a:endParaRPr lang="en-US" sz="14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Late orders</a:t>
                      </a:r>
                      <a:endParaRPr lang="en-US" sz="14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Share</a:t>
                      </a:r>
                      <a:endParaRPr lang="en-US" sz="14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Late rate</a:t>
                      </a:r>
                      <a:endParaRPr lang="en-US" sz="14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</a:t>
                      </a:r>
                      <a:endParaRPr lang="en-US" sz="14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1,820</a:t>
                      </a:r>
                      <a:endParaRPr lang="en-US" sz="14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27.85%</a:t>
                      </a:r>
                      <a:endParaRPr lang="en-US" sz="14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4.49%</a:t>
                      </a:r>
                      <a:endParaRPr lang="en-US" sz="14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RJ</a:t>
                      </a:r>
                      <a:endParaRPr lang="en-US" sz="14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1,495</a:t>
                      </a:r>
                      <a:endParaRPr lang="en-US" sz="14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22.88%</a:t>
                      </a:r>
                      <a:endParaRPr lang="en-US" sz="14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12.11%</a:t>
                      </a:r>
                      <a:endParaRPr lang="en-US" sz="14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RJ text"/>
          <p:cNvSpPr txBox="1"/>
          <p:nvPr/>
        </p:nvSpPr>
        <p:spPr>
          <a:xfrm>
            <a:off x="7818120" y="46634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RJ is different: high volume and a high late rate.</a:t>
            </a:r>
            <a:endParaRPr lang="en-US" sz="1600" dirty="0"/>
          </a:p>
        </p:txBody>
      </p:sp>
      <p:sp>
        <p:nvSpPr>
          <p:cNvPr id="10" name="Rule pill"/>
          <p:cNvSpPr/>
          <p:nvPr/>
        </p:nvSpPr>
        <p:spPr>
          <a:xfrm>
            <a:off x="7818120" y="5440680"/>
            <a:ext cx="3611880" cy="41148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11" name="Rule pill text"/>
          <p:cNvSpPr txBox="1"/>
          <p:nvPr/>
        </p:nvSpPr>
        <p:spPr>
          <a:xfrm>
            <a:off x="7818120" y="5440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PRIORITIZE EXCESS, NOT JUST VOLUME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Delay builds in carrier transit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698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Late orders spend 29 days in carrier transit vs 9 for on-time orders; seller handling differs by only about 3 days.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ge panel"/>
          <p:cNvSpPr/>
          <p:nvPr/>
        </p:nvSpPr>
        <p:spPr>
          <a:xfrm>
            <a:off x="7772400" y="1783080"/>
            <a:ext cx="3867912" cy="4389120"/>
          </a:xfrm>
          <a:prstGeom prst="roundRect">
            <a:avLst>
              <a:gd name="adj" fmla="val 2837"/>
            </a:avLst>
          </a:prstGeom>
          <a:solidFill>
            <a:schemeClr val="tx1"/>
          </a:solidFill>
          <a:ln/>
        </p:spPr>
      </p:sp>
      <p:sp>
        <p:nvSpPr>
          <p:cNvPr id="6" name="Stage label"/>
          <p:cNvSpPr txBox="1"/>
          <p:nvPr/>
        </p:nvSpPr>
        <p:spPr>
          <a:xfrm>
            <a:off x="8046720" y="2011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BREAKTHROUGH</a:t>
            </a:r>
            <a:endParaRPr lang="en-US" sz="1200" dirty="0"/>
          </a:p>
        </p:txBody>
      </p:sp>
      <p:sp>
        <p:nvSpPr>
          <p:cNvPr id="7" name="Stage number"/>
          <p:cNvSpPr txBox="1"/>
          <p:nvPr/>
        </p:nvSpPr>
        <p:spPr>
          <a:xfrm>
            <a:off x="8046720" y="23774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+19.91</a:t>
            </a:r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 days</a:t>
            </a:r>
            <a:endParaRPr lang="en-US" sz="5400" dirty="0"/>
          </a:p>
        </p:txBody>
      </p:sp>
      <p:sp>
        <p:nvSpPr>
          <p:cNvPr id="8" name="Stage text"/>
          <p:cNvSpPr txBox="1"/>
          <p:nvPr/>
        </p:nvSpPr>
        <p:spPr>
          <a:xfrm>
            <a:off x="8046720" y="3383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extra carrier-transit time on late orders</a:t>
            </a:r>
            <a:endParaRPr lang="en-US" sz="1600" dirty="0"/>
          </a:p>
        </p:txBody>
      </p:sp>
      <p:sp>
        <p:nvSpPr>
          <p:cNvPr id="9" name="Stage secondary"/>
          <p:cNvSpPr txBox="1"/>
          <p:nvPr/>
        </p:nvSpPr>
        <p:spPr>
          <a:xfrm>
            <a:off x="8046720" y="4114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+3.04 days</a:t>
            </a:r>
            <a:endParaRPr lang="en-US" sz="2400" dirty="0"/>
          </a:p>
        </p:txBody>
      </p:sp>
      <p:sp>
        <p:nvSpPr>
          <p:cNvPr id="10" name="Stage secondary text"/>
          <p:cNvSpPr txBox="1"/>
          <p:nvPr/>
        </p:nvSpPr>
        <p:spPr>
          <a:xfrm>
            <a:off x="8046720" y="4526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extra seller-handling time</a:t>
            </a:r>
            <a:endParaRPr lang="en-US" sz="1400" dirty="0"/>
          </a:p>
        </p:txBody>
      </p:sp>
      <p:sp>
        <p:nvSpPr>
          <p:cNvPr id="11" name="Stage diagnosis"/>
          <p:cNvSpPr txBox="1"/>
          <p:nvPr/>
        </p:nvSpPr>
        <p:spPr>
          <a:xfrm>
            <a:off x="8046720" y="5120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Diagnosis shifts from seller execution to network execution.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Distance multiplies the risk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698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Late-delivery risk rises steadily as the shipment travels farther.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Distance panel"/>
          <p:cNvSpPr/>
          <p:nvPr/>
        </p:nvSpPr>
        <p:spPr>
          <a:xfrm>
            <a:off x="7772400" y="1783080"/>
            <a:ext cx="3867912" cy="4389120"/>
          </a:xfrm>
          <a:prstGeom prst="roundRect">
            <a:avLst>
              <a:gd name="adj" fmla="val 2837"/>
            </a:avLst>
          </a:prstGeom>
          <a:solidFill>
            <a:schemeClr val="bg2"/>
          </a:solidFill>
          <a:ln/>
        </p:spPr>
      </p:sp>
      <p:sp>
        <p:nvSpPr>
          <p:cNvPr id="6" name="Distance number"/>
          <p:cNvSpPr txBox="1"/>
          <p:nvPr/>
        </p:nvSpPr>
        <p:spPr>
          <a:xfrm>
            <a:off x="8046720" y="2011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12.09%</a:t>
            </a:r>
            <a:endParaRPr lang="en-US" sz="6000" dirty="0"/>
          </a:p>
        </p:txBody>
      </p:sp>
      <p:sp>
        <p:nvSpPr>
          <p:cNvPr id="7" name="Distance label"/>
          <p:cNvSpPr txBox="1"/>
          <p:nvPr/>
        </p:nvSpPr>
        <p:spPr>
          <a:xfrm>
            <a:off x="8046720" y="3108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late rate beyond 2,000 km, about 2.7× the 4.42% seen under 100 km</a:t>
            </a:r>
            <a:endParaRPr lang="en-US" sz="1800" dirty="0"/>
          </a:p>
        </p:txBody>
      </p:sp>
      <p:sp>
        <p:nvSpPr>
          <p:cNvPr id="8" name="Distance text"/>
          <p:cNvSpPr txBox="1"/>
          <p:nvPr/>
        </p:nvSpPr>
        <p:spPr>
          <a:xfrm>
            <a:off x="8046720" y="4160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Long-haul routes are not just slower; they are materially riskier.</a:t>
            </a:r>
            <a:endParaRPr lang="en-US" sz="1600" dirty="0"/>
          </a:p>
        </p:txBody>
      </p:sp>
      <p:sp>
        <p:nvSpPr>
          <p:cNvPr id="9" name="Legend coral"/>
          <p:cNvSpPr/>
          <p:nvPr/>
        </p:nvSpPr>
        <p:spPr>
          <a:xfrm>
            <a:off x="8046720" y="5257800"/>
            <a:ext cx="182880" cy="182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Legend coral text"/>
          <p:cNvSpPr txBox="1"/>
          <p:nvPr/>
        </p:nvSpPr>
        <p:spPr>
          <a:xfrm>
            <a:off x="8321040" y="5212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Above the 6.77% network average</a:t>
            </a:r>
            <a:endParaRPr lang="en-US" sz="1400" dirty="0"/>
          </a:p>
        </p:txBody>
      </p:sp>
      <p:sp>
        <p:nvSpPr>
          <p:cNvPr id="11" name="Legend steel"/>
          <p:cNvSpPr/>
          <p:nvPr/>
        </p:nvSpPr>
        <p:spPr>
          <a:xfrm>
            <a:off x="8046720" y="5669280"/>
            <a:ext cx="182880" cy="18288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2" name="Legend steel text"/>
          <p:cNvSpPr txBox="1"/>
          <p:nvPr/>
        </p:nvSpPr>
        <p:spPr>
          <a:xfrm>
            <a:off x="8321040" y="5623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At or below the network average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Product mix is a secondary lever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698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Category late rates cluster tightly; heavy shipments show a modest but real uplift.</a:t>
            </a:r>
            <a:endParaRPr lang="en-US" sz="1600" dirty="0"/>
          </a:p>
        </p:txBody>
      </p:sp>
      <p:sp>
        <p:nvSpPr>
          <p:cNvPr id="4" name="Category card"/>
          <p:cNvSpPr/>
          <p:nvPr/>
        </p:nvSpPr>
        <p:spPr>
          <a:xfrm>
            <a:off x="548640" y="1783080"/>
            <a:ext cx="50292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5" name="Category title"/>
          <p:cNvSpPr txBox="1"/>
          <p:nvPr/>
        </p:nvSpPr>
        <p:spPr>
          <a:xfrm>
            <a:off x="82296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Late-rate range across product categories</a:t>
            </a:r>
            <a:endParaRPr lang="en-US" sz="1400" dirty="0"/>
          </a:p>
        </p:txBody>
      </p:sp>
      <p:sp>
        <p:nvSpPr>
          <p:cNvPr id="6" name="Range track"/>
          <p:cNvSpPr/>
          <p:nvPr/>
        </p:nvSpPr>
        <p:spPr>
          <a:xfrm>
            <a:off x="1005840" y="2926080"/>
            <a:ext cx="41148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7" name="Range span"/>
          <p:cNvSpPr/>
          <p:nvPr/>
        </p:nvSpPr>
        <p:spPr>
          <a:xfrm>
            <a:off x="2783434" y="2926080"/>
            <a:ext cx="1534820" cy="0"/>
          </a:xfrm>
          <a:prstGeom prst="line">
            <a:avLst/>
          </a:prstGeom>
          <a:noFill/>
          <a:ln w="76200">
            <a:solidFill>
              <a:schemeClr val="accent1"/>
            </a:solidFill>
            <a:prstDash val="solid"/>
          </a:ln>
        </p:spPr>
      </p:sp>
      <p:sp>
        <p:nvSpPr>
          <p:cNvPr id="8" name="Range dot 1"/>
          <p:cNvSpPr/>
          <p:nvPr/>
        </p:nvSpPr>
        <p:spPr>
          <a:xfrm>
            <a:off x="2682850" y="2825496"/>
            <a:ext cx="201168" cy="201168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Range dot 2"/>
          <p:cNvSpPr/>
          <p:nvPr/>
        </p:nvSpPr>
        <p:spPr>
          <a:xfrm>
            <a:off x="4217670" y="2825496"/>
            <a:ext cx="201168" cy="20116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Range low"/>
          <p:cNvSpPr txBox="1"/>
          <p:nvPr/>
        </p:nvSpPr>
        <p:spPr>
          <a:xfrm>
            <a:off x="2326234" y="3127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4.32%</a:t>
            </a:r>
            <a:endParaRPr lang="en-US" sz="1400" dirty="0"/>
          </a:p>
        </p:txBody>
      </p:sp>
      <p:sp>
        <p:nvSpPr>
          <p:cNvPr id="11" name="Range high"/>
          <p:cNvSpPr txBox="1"/>
          <p:nvPr/>
        </p:nvSpPr>
        <p:spPr>
          <a:xfrm>
            <a:off x="3861054" y="3127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8.05%</a:t>
            </a:r>
            <a:endParaRPr lang="en-US" sz="1400" dirty="0"/>
          </a:p>
        </p:txBody>
      </p:sp>
      <p:sp>
        <p:nvSpPr>
          <p:cNvPr id="12" name="Axis 0"/>
          <p:cNvSpPr txBox="1"/>
          <p:nvPr/>
        </p:nvSpPr>
        <p:spPr>
          <a:xfrm>
            <a:off x="731520" y="2423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0%</a:t>
            </a:r>
            <a:endParaRPr lang="en-US" sz="1100" dirty="0"/>
          </a:p>
        </p:txBody>
      </p:sp>
      <p:sp>
        <p:nvSpPr>
          <p:cNvPr id="13" name="Axis 10"/>
          <p:cNvSpPr txBox="1"/>
          <p:nvPr/>
        </p:nvSpPr>
        <p:spPr>
          <a:xfrm>
            <a:off x="4846320" y="2423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10%</a:t>
            </a:r>
            <a:endParaRPr lang="en-US" sz="1100" dirty="0"/>
          </a:p>
        </p:txBody>
      </p:sp>
      <p:sp>
        <p:nvSpPr>
          <p:cNvPr id="14" name="Range spread"/>
          <p:cNvSpPr txBox="1"/>
          <p:nvPr/>
        </p:nvSpPr>
        <p:spPr>
          <a:xfrm>
            <a:off x="82296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≈ 3.7 ppt spread across categories</a:t>
            </a:r>
            <a:endParaRPr lang="en-US" sz="1400" dirty="0"/>
          </a:p>
        </p:txBody>
      </p:sp>
      <p:sp>
        <p:nvSpPr>
          <p:cNvPr id="15" name="Interpretation card"/>
          <p:cNvSpPr/>
          <p:nvPr/>
        </p:nvSpPr>
        <p:spPr>
          <a:xfrm>
            <a:off x="548640" y="4160520"/>
            <a:ext cx="5029200" cy="2011680"/>
          </a:xfrm>
          <a:prstGeom prst="roundRect">
            <a:avLst>
              <a:gd name="adj" fmla="val 5455"/>
            </a:avLst>
          </a:prstGeom>
          <a:solidFill>
            <a:schemeClr val="tx1"/>
          </a:solidFill>
          <a:ln/>
        </p:spPr>
      </p:sp>
      <p:sp>
        <p:nvSpPr>
          <p:cNvPr id="16" name="Interpretation label"/>
          <p:cNvSpPr txBox="1"/>
          <p:nvPr/>
        </p:nvSpPr>
        <p:spPr>
          <a:xfrm>
            <a:off x="822960" y="4343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17" name="Interpretation text"/>
          <p:cNvSpPr txBox="1"/>
          <p:nvPr/>
        </p:nvSpPr>
        <p:spPr>
          <a:xfrm>
            <a:off x="822960" y="46634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Category mix should not drive the first intervention. Focus on network variables first; treat heavy and bulky shipments as a targeted secondary workstream.</a:t>
            </a:r>
            <a:endParaRPr lang="en-US" sz="16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852160" y="1783080"/>
          <a:ext cx="5788152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Peak season breaks the network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698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late-rate spike in late 2017 and early 2018 coincides with longer carrier transit times.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7315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eak panel"/>
          <p:cNvSpPr/>
          <p:nvPr/>
        </p:nvSpPr>
        <p:spPr>
          <a:xfrm>
            <a:off x="8138160" y="1783080"/>
            <a:ext cx="3502152" cy="4389120"/>
          </a:xfrm>
          <a:prstGeom prst="roundRect">
            <a:avLst>
              <a:gd name="adj" fmla="val 3133"/>
            </a:avLst>
          </a:prstGeom>
          <a:solidFill>
            <a:schemeClr val="bg2"/>
          </a:solidFill>
          <a:ln/>
        </p:spPr>
      </p:sp>
      <p:sp>
        <p:nvSpPr>
          <p:cNvPr id="6" name="Peak number"/>
          <p:cNvSpPr txBox="1"/>
          <p:nvPr/>
        </p:nvSpPr>
        <p:spPr>
          <a:xfrm>
            <a:off x="8366760" y="2011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18.96%</a:t>
            </a:r>
            <a:endParaRPr lang="en-US" sz="5400" dirty="0"/>
          </a:p>
        </p:txBody>
      </p:sp>
      <p:sp>
        <p:nvSpPr>
          <p:cNvPr id="7" name="Peak label"/>
          <p:cNvSpPr txBox="1"/>
          <p:nvPr/>
        </p:nvSpPr>
        <p:spPr>
          <a:xfrm>
            <a:off x="8366760" y="31089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March 2018 late rate, about 2.8× the network average</a:t>
            </a:r>
            <a:endParaRPr lang="en-US" sz="1800" dirty="0"/>
          </a:p>
        </p:txBody>
      </p:sp>
      <p:sp>
        <p:nvSpPr>
          <p:cNvPr id="8" name="Peak text"/>
          <p:cNvSpPr txBox="1"/>
          <p:nvPr/>
        </p:nvSpPr>
        <p:spPr>
          <a:xfrm>
            <a:off x="8366760" y="42062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Peak periods are a capacity problem, not just a seller-discipline problem.</a:t>
            </a:r>
            <a:endParaRPr lang="en-US" sz="1600" dirty="0"/>
          </a:p>
        </p:txBody>
      </p:sp>
      <p:sp>
        <p:nvSpPr>
          <p:cNvPr id="9" name="Peak foot"/>
          <p:cNvSpPr txBox="1"/>
          <p:nvPr/>
        </p:nvSpPr>
        <p:spPr>
          <a:xfrm>
            <a:off x="8366760" y="54406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Also elevated: Nov-17 (12.4%) and Feb-18 (14.1%)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Fix lanes, not the country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698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Eight lanes carry about 1,100 excess late orders, roughly 17% of all late orders in the network.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Priority lan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874520"/>
          <a:ext cx="528523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280160"/>
                <a:gridCol w="1261872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Lane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Orders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Late rate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Excess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 → RJ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8,161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14.13%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600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 → BA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2,300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12.70%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136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 → 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1,459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12.13%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78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 → CE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965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13.78%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68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 → SC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2,329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9.45%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62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 → MA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489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18.81%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59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 → RJ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975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12.00%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51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 → AL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256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23.83%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44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Priority rule card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7" name="Priority rule text"/>
          <p:cNvSpPr txBox="1"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PRIORITY RULE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Rank lanes by excess late orders = orders × (lane late rate − 6.77%), not by raw late-order count.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 network design and capacity problem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698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Every hypothesis tested, ranked by evidence. Operations should act on the primary drivers first.</a:t>
            </a:r>
            <a:endParaRPr lang="en-US" sz="1600" dirty="0"/>
          </a:p>
        </p:txBody>
      </p:sp>
      <p:graphicFrame>
        <p:nvGraphicFramePr>
          <p:cNvPr id="12" name="Hypothesi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286000"/>
                <a:gridCol w="56967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Hypothesis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Verdict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Evidence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Carrier transit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Primary driver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+19.91 days vs on-time orders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Distance / long-haul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Primary driver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12.09% late beyond 2,000 km vs 4.42% under 100 km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Peak-season capacity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Primary driver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18.96% late in March 2018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Lane concentration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Primary driver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600 excess late orders on SP → RJ alone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Seller handling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Secondary lever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+3.04 days vs on-time orders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Heavy shipments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Secondary lever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&gt;10 kg: 8.86% late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Product category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Minor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≈3.7 ppt spread across categories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90-day plan to act on it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698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Turn the analysis into controlled execution and measurable learning.</a:t>
            </a:r>
            <a:endParaRPr lang="en-US" sz="1600" dirty="0"/>
          </a:p>
        </p:txBody>
      </p:sp>
      <p:sp>
        <p:nvSpPr>
          <p:cNvPr id="4" name="Phase card 1"/>
          <p:cNvSpPr/>
          <p:nvPr/>
        </p:nvSpPr>
        <p:spPr>
          <a:xfrm>
            <a:off x="548640" y="1783080"/>
            <a:ext cx="3566160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5" name="Phase 1 badge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Phase 1 number"/>
          <p:cNvSpPr txBox="1"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Phase 1 days"/>
          <p:cNvSpPr txBox="1"/>
          <p:nvPr/>
        </p:nvSpPr>
        <p:spPr>
          <a:xfrm>
            <a:off x="146304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0–30 DAYS</a:t>
            </a:r>
            <a:endParaRPr lang="en-US" sz="1200" dirty="0"/>
          </a:p>
        </p:txBody>
      </p:sp>
      <p:sp>
        <p:nvSpPr>
          <p:cNvPr id="8" name="Phase 1 title"/>
          <p:cNvSpPr txBox="1"/>
          <p:nvPr/>
        </p:nvSpPr>
        <p:spPr>
          <a:xfrm>
            <a:off x="1463040" y="2240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Diagnose &amp; design</a:t>
            </a:r>
            <a:endParaRPr lang="en-US" sz="1800" dirty="0"/>
          </a:p>
        </p:txBody>
      </p:sp>
      <p:sp>
        <p:nvSpPr>
          <p:cNvPr id="9" name="Phase 1 actions"/>
          <p:cNvSpPr txBox="1"/>
          <p:nvPr/>
        </p:nvSpPr>
        <p:spPr>
          <a:xfrm>
            <a:off x="822960" y="28346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Audit SP→RJ, SP→BA, SP→ES, SP→CE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carriers, hubs, line-haul schedules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Map planned vs actual transit by lane</a:t>
            </a:r>
            <a:endParaRPr lang="en-US" sz="1400" dirty="0"/>
          </a:p>
        </p:txBody>
      </p:sp>
      <p:sp>
        <p:nvSpPr>
          <p:cNvPr id="10" name="Phase card 2"/>
          <p:cNvSpPr/>
          <p:nvPr/>
        </p:nvSpPr>
        <p:spPr>
          <a:xfrm>
            <a:off x="4311396" y="1783080"/>
            <a:ext cx="3566160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1" name="Phase 2 badge"/>
          <p:cNvSpPr/>
          <p:nvPr/>
        </p:nvSpPr>
        <p:spPr>
          <a:xfrm>
            <a:off x="4585716" y="2011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Phase 2 number"/>
          <p:cNvSpPr txBox="1"/>
          <p:nvPr/>
        </p:nvSpPr>
        <p:spPr>
          <a:xfrm>
            <a:off x="4585716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Phase 2 days"/>
          <p:cNvSpPr txBox="1"/>
          <p:nvPr/>
        </p:nvSpPr>
        <p:spPr>
          <a:xfrm>
            <a:off x="5225796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31–60 DAYS</a:t>
            </a:r>
            <a:endParaRPr lang="en-US" sz="1200" dirty="0"/>
          </a:p>
        </p:txBody>
      </p:sp>
      <p:sp>
        <p:nvSpPr>
          <p:cNvPr id="14" name="Phase 2 title"/>
          <p:cNvSpPr txBox="1"/>
          <p:nvPr/>
        </p:nvSpPr>
        <p:spPr>
          <a:xfrm>
            <a:off x="5225796" y="2240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Pilot &amp; learn</a:t>
            </a:r>
            <a:endParaRPr lang="en-US" sz="1800" dirty="0"/>
          </a:p>
        </p:txBody>
      </p:sp>
      <p:sp>
        <p:nvSpPr>
          <p:cNvPr id="15" name="Phase 2 actions"/>
          <p:cNvSpPr txBox="1"/>
          <p:nvPr/>
        </p:nvSpPr>
        <p:spPr>
          <a:xfrm>
            <a:off x="4585716" y="28346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Reallocate carrier capacity on priority lanes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dispatch cut-off and route changes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Create heavy-shipment handling rules</a:t>
            </a:r>
            <a:endParaRPr lang="en-US" sz="1400" dirty="0"/>
          </a:p>
        </p:txBody>
      </p:sp>
      <p:sp>
        <p:nvSpPr>
          <p:cNvPr id="16" name="Phase card 3"/>
          <p:cNvSpPr/>
          <p:nvPr/>
        </p:nvSpPr>
        <p:spPr>
          <a:xfrm>
            <a:off x="8074152" y="1783080"/>
            <a:ext cx="3566160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7" name="Phase 3 badge"/>
          <p:cNvSpPr/>
          <p:nvPr/>
        </p:nvSpPr>
        <p:spPr>
          <a:xfrm>
            <a:off x="8348472" y="201168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Phase 3 number"/>
          <p:cNvSpPr txBox="1"/>
          <p:nvPr/>
        </p:nvSpPr>
        <p:spPr>
          <a:xfrm>
            <a:off x="834847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Phase 3 days"/>
          <p:cNvSpPr txBox="1"/>
          <p:nvPr/>
        </p:nvSpPr>
        <p:spPr>
          <a:xfrm>
            <a:off x="8988552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61–90 DAYS</a:t>
            </a:r>
            <a:endParaRPr lang="en-US" sz="1200" dirty="0"/>
          </a:p>
        </p:txBody>
      </p:sp>
      <p:sp>
        <p:nvSpPr>
          <p:cNvPr id="20" name="Phase 3 title"/>
          <p:cNvSpPr txBox="1"/>
          <p:nvPr/>
        </p:nvSpPr>
        <p:spPr>
          <a:xfrm>
            <a:off x="8988552" y="2240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Scale &amp; govern</a:t>
            </a:r>
            <a:endParaRPr lang="en-US" sz="1800" dirty="0"/>
          </a:p>
        </p:txBody>
      </p:sp>
      <p:sp>
        <p:nvSpPr>
          <p:cNvPr id="21" name="Phase 3 actions"/>
          <p:cNvSpPr txBox="1"/>
          <p:nvPr/>
        </p:nvSpPr>
        <p:spPr>
          <a:xfrm>
            <a:off x="8348472" y="28346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Scale successful interventions to next lanes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Institutionalize peak-capacity planning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 a monthly lane scorecard</a:t>
            </a:r>
            <a:endParaRPr lang="en-US" sz="1400" dirty="0"/>
          </a:p>
        </p:txBody>
      </p:sp>
      <p:sp>
        <p:nvSpPr>
          <p:cNvPr id="22" name="KPI label"/>
          <p:cNvSpPr txBox="1"/>
          <p:nvPr/>
        </p:nvSpPr>
        <p:spPr>
          <a:xfrm>
            <a:off x="548640" y="5257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GOVERNANCE KPIs</a:t>
            </a:r>
            <a:endParaRPr lang="en-US" sz="1200" dirty="0"/>
          </a:p>
        </p:txBody>
      </p:sp>
      <p:sp>
        <p:nvSpPr>
          <p:cNvPr id="23" name="KPI chip 1"/>
          <p:cNvSpPr/>
          <p:nvPr/>
        </p:nvSpPr>
        <p:spPr>
          <a:xfrm>
            <a:off x="548640" y="557784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4" name="KPI chip 1 text"/>
          <p:cNvSpPr txBox="1"/>
          <p:nvPr/>
        </p:nvSpPr>
        <p:spPr>
          <a:xfrm>
            <a:off x="548640" y="5577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Late %</a:t>
            </a:r>
            <a:endParaRPr lang="en-US" sz="1400" dirty="0"/>
          </a:p>
        </p:txBody>
      </p:sp>
      <p:sp>
        <p:nvSpPr>
          <p:cNvPr id="25" name="KPI chip 2"/>
          <p:cNvSpPr/>
          <p:nvPr/>
        </p:nvSpPr>
        <p:spPr>
          <a:xfrm>
            <a:off x="2121408" y="5577840"/>
            <a:ext cx="246888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6" name="KPI chip 2 text"/>
          <p:cNvSpPr txBox="1"/>
          <p:nvPr/>
        </p:nvSpPr>
        <p:spPr>
          <a:xfrm>
            <a:off x="2121408" y="5577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Carrier transit days</a:t>
            </a:r>
            <a:endParaRPr lang="en-US" sz="1400" dirty="0"/>
          </a:p>
        </p:txBody>
      </p:sp>
      <p:sp>
        <p:nvSpPr>
          <p:cNvPr id="27" name="KPI chip 3"/>
          <p:cNvSpPr/>
          <p:nvPr/>
        </p:nvSpPr>
        <p:spPr>
          <a:xfrm>
            <a:off x="4882896" y="5577840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8" name="KPI chip 3 text"/>
          <p:cNvSpPr txBox="1"/>
          <p:nvPr/>
        </p:nvSpPr>
        <p:spPr>
          <a:xfrm>
            <a:off x="4882896" y="5577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Excess late orders</a:t>
            </a:r>
            <a:endParaRPr lang="en-US" sz="1400" dirty="0"/>
          </a:p>
        </p:txBody>
      </p:sp>
      <p:sp>
        <p:nvSpPr>
          <p:cNvPr id="29" name="KPI chip 4"/>
          <p:cNvSpPr/>
          <p:nvPr/>
        </p:nvSpPr>
        <p:spPr>
          <a:xfrm>
            <a:off x="7552944" y="557784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30" name="KPI chip 4 text"/>
          <p:cNvSpPr txBox="1"/>
          <p:nvPr/>
        </p:nvSpPr>
        <p:spPr>
          <a:xfrm>
            <a:off x="7552944" y="5577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Peak-period late %</a:t>
            </a:r>
            <a:endParaRPr lang="en-US" sz="1400" dirty="0"/>
          </a:p>
        </p:txBody>
      </p:sp>
      <p:sp>
        <p:nvSpPr>
          <p:cNvPr id="31" name="KPI chip 5"/>
          <p:cNvSpPr/>
          <p:nvPr/>
        </p:nvSpPr>
        <p:spPr>
          <a:xfrm>
            <a:off x="10177272" y="5577840"/>
            <a:ext cx="146304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32" name="KPI chip 5 text"/>
          <p:cNvSpPr txBox="1"/>
          <p:nvPr/>
        </p:nvSpPr>
        <p:spPr>
          <a:xfrm>
            <a:off x="10177272" y="5577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Lane SLA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From symptom to execution agenda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698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broad symptom became a focused, measurable plan.</a:t>
            </a:r>
            <a:endParaRPr lang="en-US" sz="1600" dirty="0"/>
          </a:p>
        </p:txBody>
      </p:sp>
      <p:sp>
        <p:nvSpPr>
          <p:cNvPr id="4" name="Flow card 1"/>
          <p:cNvSpPr/>
          <p:nvPr/>
        </p:nvSpPr>
        <p:spPr>
          <a:xfrm>
            <a:off x="548640" y="1783080"/>
            <a:ext cx="2514600" cy="2240280"/>
          </a:xfrm>
          <a:prstGeom prst="roundRect">
            <a:avLst>
              <a:gd name="adj" fmla="val 4898"/>
            </a:avLst>
          </a:prstGeom>
          <a:solidFill>
            <a:schemeClr val="accent5"/>
          </a:solidFill>
          <a:ln/>
        </p:spPr>
      </p:sp>
      <p:sp>
        <p:nvSpPr>
          <p:cNvPr id="5" name="Flow 1 label"/>
          <p:cNvSpPr txBox="1"/>
          <p:nvPr/>
        </p:nvSpPr>
        <p:spPr>
          <a:xfrm>
            <a:off x="777240" y="2011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PROBLEM</a:t>
            </a:r>
            <a:endParaRPr lang="en-US" sz="1200" dirty="0"/>
          </a:p>
        </p:txBody>
      </p:sp>
      <p:sp>
        <p:nvSpPr>
          <p:cNvPr id="6" name="Flow 1 text"/>
          <p:cNvSpPr txBox="1"/>
          <p:nvPr/>
        </p:nvSpPr>
        <p:spPr>
          <a:xfrm>
            <a:off x="777240" y="237744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6.77% of delivered orders missed the promise</a:t>
            </a:r>
            <a:endParaRPr lang="en-US" sz="1600" dirty="0"/>
          </a:p>
        </p:txBody>
      </p:sp>
      <p:sp>
        <p:nvSpPr>
          <p:cNvPr id="7" name="Flow arrow 1"/>
          <p:cNvSpPr/>
          <p:nvPr/>
        </p:nvSpPr>
        <p:spPr>
          <a:xfrm>
            <a:off x="3108960" y="2898648"/>
            <a:ext cx="253289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Flow card 2"/>
          <p:cNvSpPr/>
          <p:nvPr/>
        </p:nvSpPr>
        <p:spPr>
          <a:xfrm>
            <a:off x="3407969" y="1783080"/>
            <a:ext cx="2514600" cy="2240280"/>
          </a:xfrm>
          <a:prstGeom prst="roundRect">
            <a:avLst>
              <a:gd name="adj" fmla="val 4898"/>
            </a:avLst>
          </a:prstGeom>
          <a:solidFill>
            <a:schemeClr val="accent5"/>
          </a:solidFill>
          <a:ln/>
        </p:spPr>
      </p:sp>
      <p:sp>
        <p:nvSpPr>
          <p:cNvPr id="9" name="Flow 2 label"/>
          <p:cNvSpPr txBox="1"/>
          <p:nvPr/>
        </p:nvSpPr>
        <p:spPr>
          <a:xfrm>
            <a:off x="3636569" y="2011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DECOMPOSE</a:t>
            </a:r>
            <a:endParaRPr lang="en-US" sz="1200" dirty="0"/>
          </a:p>
        </p:txBody>
      </p:sp>
      <p:sp>
        <p:nvSpPr>
          <p:cNvPr id="10" name="Flow 2 text"/>
          <p:cNvSpPr txBox="1"/>
          <p:nvPr/>
        </p:nvSpPr>
        <p:spPr>
          <a:xfrm>
            <a:off x="3636569" y="237744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Severity · geography · stage · distance · product · seasonality</a:t>
            </a:r>
            <a:endParaRPr lang="en-US" sz="1600" dirty="0"/>
          </a:p>
        </p:txBody>
      </p:sp>
      <p:sp>
        <p:nvSpPr>
          <p:cNvPr id="11" name="Flow arrow 2"/>
          <p:cNvSpPr/>
          <p:nvPr/>
        </p:nvSpPr>
        <p:spPr>
          <a:xfrm>
            <a:off x="5968289" y="2898648"/>
            <a:ext cx="253289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Flow card 3"/>
          <p:cNvSpPr/>
          <p:nvPr/>
        </p:nvSpPr>
        <p:spPr>
          <a:xfrm>
            <a:off x="6267298" y="1783080"/>
            <a:ext cx="2514600" cy="2240280"/>
          </a:xfrm>
          <a:prstGeom prst="roundRect">
            <a:avLst>
              <a:gd name="adj" fmla="val 4898"/>
            </a:avLst>
          </a:prstGeom>
          <a:solidFill>
            <a:schemeClr val="accent5"/>
          </a:solidFill>
          <a:ln/>
        </p:spPr>
      </p:sp>
      <p:sp>
        <p:nvSpPr>
          <p:cNvPr id="13" name="Flow 3 label"/>
          <p:cNvSpPr txBox="1"/>
          <p:nvPr/>
        </p:nvSpPr>
        <p:spPr>
          <a:xfrm>
            <a:off x="6495898" y="2011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INSIGHT</a:t>
            </a:r>
            <a:endParaRPr lang="en-US" sz="1200" dirty="0"/>
          </a:p>
        </p:txBody>
      </p:sp>
      <p:sp>
        <p:nvSpPr>
          <p:cNvPr id="14" name="Flow 3 text"/>
          <p:cNvSpPr txBox="1"/>
          <p:nvPr/>
        </p:nvSpPr>
        <p:spPr>
          <a:xfrm>
            <a:off x="6495898" y="237744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Carrier transit and specific lanes explain the largest gaps</a:t>
            </a:r>
            <a:endParaRPr lang="en-US" sz="1600" dirty="0"/>
          </a:p>
        </p:txBody>
      </p:sp>
      <p:sp>
        <p:nvSpPr>
          <p:cNvPr id="15" name="Flow arrow 3"/>
          <p:cNvSpPr/>
          <p:nvPr/>
        </p:nvSpPr>
        <p:spPr>
          <a:xfrm>
            <a:off x="8827618" y="2898648"/>
            <a:ext cx="253289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Flow card 4"/>
          <p:cNvSpPr/>
          <p:nvPr/>
        </p:nvSpPr>
        <p:spPr>
          <a:xfrm>
            <a:off x="9126626" y="1783080"/>
            <a:ext cx="2514600" cy="2240280"/>
          </a:xfrm>
          <a:prstGeom prst="roundRect">
            <a:avLst>
              <a:gd name="adj" fmla="val 4898"/>
            </a:avLst>
          </a:prstGeom>
          <a:solidFill>
            <a:schemeClr val="accent5"/>
          </a:solidFill>
          <a:ln/>
        </p:spPr>
      </p:sp>
      <p:sp>
        <p:nvSpPr>
          <p:cNvPr id="17" name="Flow 4 label"/>
          <p:cNvSpPr txBox="1"/>
          <p:nvPr/>
        </p:nvSpPr>
        <p:spPr>
          <a:xfrm>
            <a:off x="9355226" y="2011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ACTION</a:t>
            </a:r>
            <a:endParaRPr lang="en-US" sz="1200" dirty="0"/>
          </a:p>
        </p:txBody>
      </p:sp>
      <p:sp>
        <p:nvSpPr>
          <p:cNvPr id="18" name="Flow 4 text"/>
          <p:cNvSpPr txBox="1"/>
          <p:nvPr/>
        </p:nvSpPr>
        <p:spPr>
          <a:xfrm>
            <a:off x="9355226" y="237744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Target high-excess lanes; redesign capacity and long-haul execution</a:t>
            </a:r>
            <a:endParaRPr lang="en-US" sz="1600" dirty="0"/>
          </a:p>
        </p:txBody>
      </p:sp>
      <p:sp>
        <p:nvSpPr>
          <p:cNvPr id="19" name="Demonstrates label"/>
          <p:cNvSpPr txBox="1"/>
          <p:nvPr/>
        </p:nvSpPr>
        <p:spPr>
          <a:xfrm>
            <a:off x="548640" y="4343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WHAT THIS PROJECT DEMONSTRATES</a:t>
            </a:r>
            <a:endParaRPr lang="en-US" sz="1200" dirty="0"/>
          </a:p>
        </p:txBody>
      </p:sp>
      <p:sp>
        <p:nvSpPr>
          <p:cNvPr id="20" name="Skill chip 1"/>
          <p:cNvSpPr/>
          <p:nvPr/>
        </p:nvSpPr>
        <p:spPr>
          <a:xfrm>
            <a:off x="548640" y="4663440"/>
            <a:ext cx="2697480" cy="502920"/>
          </a:xfrm>
          <a:prstGeom prst="roundRect">
            <a:avLst>
              <a:gd name="adj" fmla="val 49091"/>
            </a:avLst>
          </a:prstGeom>
          <a:solidFill>
            <a:schemeClr val="accent4"/>
          </a:solidFill>
          <a:ln/>
        </p:spPr>
      </p:sp>
      <p:sp>
        <p:nvSpPr>
          <p:cNvPr id="21" name="Skill chip 1 text"/>
          <p:cNvSpPr txBox="1"/>
          <p:nvPr/>
        </p:nvSpPr>
        <p:spPr>
          <a:xfrm>
            <a:off x="548640" y="46634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Python &amp; pandas analysis</a:t>
            </a:r>
            <a:endParaRPr lang="en-US" sz="1400" dirty="0"/>
          </a:p>
        </p:txBody>
      </p:sp>
      <p:sp>
        <p:nvSpPr>
          <p:cNvPr id="22" name="Skill chip 2"/>
          <p:cNvSpPr/>
          <p:nvPr/>
        </p:nvSpPr>
        <p:spPr>
          <a:xfrm>
            <a:off x="3346704" y="4663440"/>
            <a:ext cx="2697480" cy="502920"/>
          </a:xfrm>
          <a:prstGeom prst="roundRect">
            <a:avLst>
              <a:gd name="adj" fmla="val 49091"/>
            </a:avLst>
          </a:prstGeom>
          <a:solidFill>
            <a:schemeClr val="accent4"/>
          </a:solidFill>
          <a:ln/>
        </p:spPr>
      </p:sp>
      <p:sp>
        <p:nvSpPr>
          <p:cNvPr id="23" name="Skill chip 2 text"/>
          <p:cNvSpPr txBox="1"/>
          <p:nvPr/>
        </p:nvSpPr>
        <p:spPr>
          <a:xfrm>
            <a:off x="3346704" y="46634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Root-cause decomposition</a:t>
            </a:r>
            <a:endParaRPr lang="en-US" sz="1400" dirty="0"/>
          </a:p>
        </p:txBody>
      </p:sp>
      <p:sp>
        <p:nvSpPr>
          <p:cNvPr id="24" name="Skill chip 3"/>
          <p:cNvSpPr/>
          <p:nvPr/>
        </p:nvSpPr>
        <p:spPr>
          <a:xfrm>
            <a:off x="6144768" y="4663440"/>
            <a:ext cx="2697480" cy="502920"/>
          </a:xfrm>
          <a:prstGeom prst="roundRect">
            <a:avLst>
              <a:gd name="adj" fmla="val 49091"/>
            </a:avLst>
          </a:prstGeom>
          <a:solidFill>
            <a:schemeClr val="accent4"/>
          </a:solidFill>
          <a:ln/>
        </p:spPr>
      </p:sp>
      <p:sp>
        <p:nvSpPr>
          <p:cNvPr id="25" name="Skill chip 3 text"/>
          <p:cNvSpPr txBox="1"/>
          <p:nvPr/>
        </p:nvSpPr>
        <p:spPr>
          <a:xfrm>
            <a:off x="6144768" y="46634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Prioritization by impact</a:t>
            </a:r>
            <a:endParaRPr lang="en-US" sz="1400" dirty="0"/>
          </a:p>
        </p:txBody>
      </p:sp>
      <p:sp>
        <p:nvSpPr>
          <p:cNvPr id="26" name="Skill chip 4"/>
          <p:cNvSpPr/>
          <p:nvPr/>
        </p:nvSpPr>
        <p:spPr>
          <a:xfrm>
            <a:off x="8942832" y="4663440"/>
            <a:ext cx="2697480" cy="502920"/>
          </a:xfrm>
          <a:prstGeom prst="roundRect">
            <a:avLst>
              <a:gd name="adj" fmla="val 49091"/>
            </a:avLst>
          </a:prstGeom>
          <a:solidFill>
            <a:schemeClr val="accent4"/>
          </a:solidFill>
          <a:ln/>
        </p:spPr>
      </p:sp>
      <p:sp>
        <p:nvSpPr>
          <p:cNvPr id="27" name="Skill chip 4 text"/>
          <p:cNvSpPr txBox="1"/>
          <p:nvPr/>
        </p:nvSpPr>
        <p:spPr>
          <a:xfrm>
            <a:off x="8942832" y="46634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Insight-to-KPI governance</a:t>
            </a:r>
            <a:endParaRPr lang="en-US" sz="1400" dirty="0"/>
          </a:p>
        </p:txBody>
      </p:sp>
      <p:sp>
        <p:nvSpPr>
          <p:cNvPr id="28" name="Closing name"/>
          <p:cNvSpPr txBox="1"/>
          <p:nvPr/>
        </p:nvSpPr>
        <p:spPr>
          <a:xfrm>
            <a:off x="54864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Udit Gupta</a:t>
            </a:r>
            <a:endParaRPr lang="en-US" sz="2000" dirty="0"/>
          </a:p>
        </p:txBody>
      </p:sp>
      <p:sp>
        <p:nvSpPr>
          <p:cNvPr id="29" name="Closing sub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Python → insight → action  ·  Portfolio project on the Olist Brazilian e-commerce dataset (Kaggle)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list Delivery">
  <a:themeElements>
    <a:clrScheme name="Olist Delivery">
      <a:dk1>
        <a:srgbClr val="14213D"/>
      </a:dk1>
      <a:lt1>
        <a:srgbClr val="FFFFFF"/>
      </a:lt1>
      <a:dk2>
        <a:srgbClr val="5B6B82"/>
      </a:dk2>
      <a:lt2>
        <a:srgbClr val="F1F4F9"/>
      </a:lt2>
      <a:accent1>
        <a:srgbClr val="E4572E"/>
      </a:accent1>
      <a:accent2>
        <a:srgbClr val="17A398"/>
      </a:accent2>
      <a:accent3>
        <a:srgbClr val="F2A541"/>
      </a:accent3>
      <a:accent4>
        <a:srgbClr val="3D5A80"/>
      </a:accent4>
      <a:accent5>
        <a:srgbClr val="1D2F55"/>
      </a:accent5>
      <a:accent6>
        <a:srgbClr val="8A97AB"/>
      </a:accent6>
      <a:hlink>
        <a:srgbClr val="17A398"/>
      </a:hlink>
      <a:folHlink>
        <a:srgbClr val="8A97AB"/>
      </a:folHlink>
    </a:clrScheme>
    <a:fontScheme name="Olist Delive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Brazil — Why are customers waiting?</dc:title>
  <dc:subject>PptxGenJS Presentation</dc:subject>
  <dc:creator>Udit Gupta</dc:creator>
  <cp:lastModifiedBy>Udit Gupta</cp:lastModifiedBy>
  <cp:revision>1</cp:revision>
  <dcterms:created xsi:type="dcterms:W3CDTF">2026-10-03T10:15:10Z</dcterms:created>
  <dcterms:modified xsi:type="dcterms:W3CDTF">2026-10-03T10:15:10Z</dcterms:modified>
</cp:coreProperties>
</file>