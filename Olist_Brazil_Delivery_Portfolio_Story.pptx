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097280"/>
            <a:ext cx="1417320" cy="173736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1097280"/>
            <a:ext cx="-502920" cy="347472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828800"/>
            <a:ext cx="-1554480" cy="45720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828800"/>
            <a:ext cx="182880" cy="233172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286000"/>
            <a:ext cx="822960" cy="96012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2286000"/>
            <a:ext cx="1005840" cy="306324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2834640"/>
            <a:ext cx="-1920240" cy="173736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3246120"/>
            <a:ext cx="914400" cy="91440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4160520"/>
            <a:ext cx="-731520" cy="1188720"/>
          </a:xfrm>
          <a:prstGeom prst="line">
            <a:avLst/>
          </a:prstGeom>
          <a:noFill/>
          <a:ln w="12700">
            <a:solidFill>
              <a:srgbClr val="3445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0656" y="1042416"/>
            <a:ext cx="109728" cy="109728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177393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0576" y="223113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37976" y="2779776"/>
            <a:ext cx="109728" cy="109728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19125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7936" y="410565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17736" y="4517136"/>
            <a:ext cx="109728" cy="109728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86416" y="5294376"/>
            <a:ext cx="109728" cy="10972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035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AB6CB"/>
                </a:solidFill>
              </a:rPr>
              <a:t>OLIST BRAZIL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131673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are customers waiting?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58368" y="22128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FEC"/>
                </a:solidFill>
              </a:rPr>
              <a:t>A Python-led delivery performance investigation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7DFEC"/>
                </a:solidFill>
              </a:rPr>
              <a:t>from business problem → root cause → action plan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5F4C"/>
                </a:solidFill>
              </a:rPr>
              <a:t>PORTFOLIO CASE STUDY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Udit Gupta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6CB"/>
                </a:solidFill>
              </a:rPr>
              <a:t>Python • pandas • operational analytics • strategy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4736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6.77%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7635240" y="54132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6CB"/>
                </a:solidFill>
              </a:rPr>
              <a:t>late-delivery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 is simple to state — but not to solve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96,470 delivered orders provide enough scale to look beyond the headline metric.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90472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4F1"/>
          </a:solidFill>
          <a:ln w="12700">
            <a:solidFill>
              <a:srgbClr val="F9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3677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5F4C"/>
                </a:solidFill>
              </a:rPr>
              <a:t>6.77%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</a:rPr>
              <a:t>orders delivered later than estimated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07792" y="1490472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163677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6,534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72384" y="210312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</a:rPr>
              <a:t>late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57216" y="1490472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63677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10.62 days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21808" y="210312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</a:rPr>
              <a:t>average delay among late 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490472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5F0FF"/>
          </a:solidFill>
          <a:ln w="12700">
            <a:solidFill>
              <a:srgbClr val="E6D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63677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A5AF8"/>
                </a:solidFill>
              </a:rPr>
              <a:t>32.0%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71232" y="210312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</a:rPr>
              <a:t>of late orders delayed &gt;10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56064" y="1490472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0656" y="163677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188 days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20656" y="210312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</a:rPr>
              <a:t>maximum observed delay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182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The question we chose to answer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32B"/>
                </a:solidFill>
              </a:rPr>
              <a:t>Is late delivery a broad Olist problem — or a concentrated network problem that can be attacked selectively?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85800" y="4828032"/>
            <a:ext cx="1353312" cy="292608"/>
          </a:xfrm>
          <a:prstGeom prst="roundRect">
            <a:avLst>
              <a:gd name="adj" fmla="val 37500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8746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 FRAMING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B"/>
                </a:solidFill>
              </a:rPr>
              <a:t>Goal: move from descriptive EDA to an executable operations plan.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40156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Scope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30568" y="3593592"/>
            <a:ext cx="457200" cy="0"/>
          </a:xfrm>
          <a:prstGeom prst="line">
            <a:avLst/>
          </a:prstGeom>
          <a:noFill/>
          <a:ln w="19050">
            <a:solidFill>
              <a:srgbClr val="D9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340156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Decompose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671816" y="3593592"/>
            <a:ext cx="457200" cy="0"/>
          </a:xfrm>
          <a:prstGeom prst="line">
            <a:avLst/>
          </a:prstGeom>
          <a:noFill/>
          <a:ln w="19050">
            <a:solidFill>
              <a:srgbClr val="D9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340156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29016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91856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Locate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513064" y="3593592"/>
            <a:ext cx="457200" cy="0"/>
          </a:xfrm>
          <a:prstGeom prst="line">
            <a:avLst/>
          </a:prstGeom>
          <a:noFill/>
          <a:ln w="19050">
            <a:solidFill>
              <a:srgbClr val="D9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70264" y="340156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0264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33104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Explain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354312" y="3593592"/>
            <a:ext cx="457200" cy="0"/>
          </a:xfrm>
          <a:prstGeom prst="line">
            <a:avLst/>
          </a:prstGeom>
          <a:noFill/>
          <a:ln w="19050">
            <a:solidFill>
              <a:srgbClr val="D9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1512" y="3401568"/>
            <a:ext cx="384048" cy="384048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11512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74352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Prioritize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195560" y="3593592"/>
            <a:ext cx="457200" cy="0"/>
          </a:xfrm>
          <a:prstGeom prst="line">
            <a:avLst/>
          </a:prstGeom>
          <a:noFill/>
          <a:ln w="19050">
            <a:solidFill>
              <a:srgbClr val="D9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52760" y="340156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52760" y="3493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0" y="3931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Act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28232" y="4892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Close the loop: insight → decision → KPI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clue: when an order is late, it is often very late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Severity matters because a 1-day miss and a 20-day miss are different customer and operations problems.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1–2 days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554480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554480"/>
            <a:ext cx="3917172" cy="384048"/>
          </a:xfrm>
          <a:prstGeom prst="roundRect">
            <a:avLst>
              <a:gd name="adj" fmla="val 19048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5864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20.97%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68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3–5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313432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313432"/>
            <a:ext cx="400310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3454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21.43%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6–10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3072384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3072384"/>
            <a:ext cx="4780183" cy="384048"/>
          </a:xfrm>
          <a:prstGeom prst="roundRect">
            <a:avLst>
              <a:gd name="adj" fmla="val 19048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31043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25.59%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&gt;10 days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3831336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3831336"/>
            <a:ext cx="5981299" cy="384048"/>
          </a:xfrm>
          <a:prstGeom prst="roundRect">
            <a:avLst>
              <a:gd name="adj" fmla="val 19048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8633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32.02%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4892040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4F1"/>
          </a:solidFill>
          <a:ln w="12700">
            <a:solidFill>
              <a:srgbClr val="F7D4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657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5F4C"/>
                </a:solidFill>
              </a:rPr>
              <a:t>32%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847088" y="5010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of late orders were delayed more than 10 days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873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4C"/>
                </a:solidFill>
              </a:rPr>
              <a:t>Implication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</a:rPr>
              <a:t>The problem is not just “service-level slippage”. A meaningful share of failures is severe enough to warrant root-cause investigation.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clue: the pain is geographically concentrated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Customer-state performance varies far more than product-category performance.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RJ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1508760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508760"/>
            <a:ext cx="2891384" cy="320040"/>
          </a:xfrm>
          <a:prstGeom prst="roundRect">
            <a:avLst>
              <a:gd name="adj" fmla="val 22857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155448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12.11%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75120" y="155448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1,495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26680" y="1508760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5681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22.88% of all late orders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04825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BA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25880" y="2002536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2002536"/>
            <a:ext cx="2903322" cy="320040"/>
          </a:xfrm>
          <a:prstGeom prst="roundRect">
            <a:avLst>
              <a:gd name="adj" fmla="val 22857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04825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12.16%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204825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396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54203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25880" y="2496312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2496312"/>
            <a:ext cx="3285338" cy="320040"/>
          </a:xfrm>
          <a:prstGeom prst="roundRect">
            <a:avLst>
              <a:gd name="adj" fmla="val 22857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54203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13.76%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254203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176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0358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0" y="2990088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2990088"/>
            <a:ext cx="2561895" cy="320040"/>
          </a:xfrm>
          <a:prstGeom prst="roundRect">
            <a:avLst>
              <a:gd name="adj" fmla="val 22857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303580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10.73%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303580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214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35295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25880" y="3483864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3483864"/>
            <a:ext cx="4161587" cy="320040"/>
          </a:xfrm>
          <a:prstGeom prst="roundRect">
            <a:avLst>
              <a:gd name="adj" fmla="val 22857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52958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17.43%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352958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125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SC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25880" y="3977640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3977640"/>
            <a:ext cx="1960220" cy="320040"/>
          </a:xfrm>
          <a:prstGeom prst="roundRect">
            <a:avLst>
              <a:gd name="adj" fmla="val 2285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402336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8.21%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402336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291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" y="451713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PE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4471416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4471416"/>
            <a:ext cx="2292096" cy="320040"/>
          </a:xfrm>
          <a:prstGeom prst="roundRect">
            <a:avLst>
              <a:gd name="adj" fmla="val 2285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451713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9.60%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451713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153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1520" y="501091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SP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25880" y="4965192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5880" y="4965192"/>
            <a:ext cx="1072032" cy="320040"/>
          </a:xfrm>
          <a:prstGeom prst="roundRect">
            <a:avLst>
              <a:gd name="adj" fmla="val 2285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50109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4.49%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75120" y="50109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1,820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26680" y="4965192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50246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27.85% of all late orders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1520" y="550468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MG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25880" y="5458968"/>
            <a:ext cx="4297680" cy="320040"/>
          </a:xfrm>
          <a:prstGeom prst="roundRect">
            <a:avLst>
              <a:gd name="adj" fmla="val 22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5458968"/>
            <a:ext cx="1091133" cy="320040"/>
          </a:xfrm>
          <a:prstGeom prst="roundRect">
            <a:avLst>
              <a:gd name="adj" fmla="val 22857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42432" y="550468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4.57%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675120" y="550468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519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325880" y="1143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</a:rPr>
              <a:t>Late rate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80760" y="1143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</a:rPr>
              <a:t>Late orders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29600" y="1508760"/>
            <a:ext cx="3063240" cy="3429000"/>
          </a:xfrm>
          <a:prstGeom prst="roundRect">
            <a:avLst>
              <a:gd name="adj" fmla="val 2388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03920" y="1783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5F4C"/>
                </a:solidFill>
              </a:rPr>
              <a:t>The trap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2148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</a:rPr>
              <a:t>SP has the most late orders because it is huge — but its late rate is below the network average.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850392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24B"/>
                </a:solidFill>
              </a:rPr>
              <a:t>RJ is different: high volume + high late rate.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503920" y="4224528"/>
            <a:ext cx="242316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9640" y="42839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PRIORITIZE EXCESS, NOT JUST VOLUME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breakthrough: the delay happens mostly after seller handoff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Late orders take far longer in carrier transit than in seller handling.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Average stage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Seller handling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8928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On-time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17520" y="1874520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74520"/>
            <a:ext cx="591503" cy="310896"/>
          </a:xfrm>
          <a:prstGeom prst="roundRect">
            <a:avLst>
              <a:gd name="adj" fmla="val 235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3.45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23865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Late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2368296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368296"/>
            <a:ext cx="1112711" cy="310896"/>
          </a:xfrm>
          <a:prstGeom prst="roundRect">
            <a:avLst>
              <a:gd name="adj" fmla="val 23529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6.49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4B"/>
                </a:solidFill>
              </a:rPr>
              <a:t>Carrier transit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3493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On-time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3474720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474720"/>
            <a:ext cx="1560195" cy="310896"/>
          </a:xfrm>
          <a:prstGeom prst="roundRect">
            <a:avLst>
              <a:gd name="adj" fmla="val 235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3502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9.10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9867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Late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17520" y="3968496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3968496"/>
            <a:ext cx="4973765" cy="310896"/>
          </a:xfrm>
          <a:prstGeom prst="roundRect">
            <a:avLst>
              <a:gd name="adj" fmla="val 23529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39959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29.01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35440" y="18288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2240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+19.91 days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9528048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3EE"/>
                </a:solidFill>
              </a:rPr>
              <a:t>extra carrier-transit time on late orders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55480" y="3886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25F4C"/>
                </a:solidFill>
              </a:rPr>
              <a:t>+3.04 days seller handling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32B"/>
                </a:solidFill>
              </a:rPr>
              <a:t>Diagnosis shifts from “seller execution” to “network execution”.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Distance changes the odds of failure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Late-delivery risk rises steadily as the shipment travels farther.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5212080"/>
            <a:ext cx="9784080" cy="0"/>
          </a:xfrm>
          <a:prstGeom prst="line">
            <a:avLst/>
          </a:prstGeom>
          <a:noFill/>
          <a:ln w="1524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0" cy="3383280"/>
          </a:xfrm>
          <a:prstGeom prst="line">
            <a:avLst/>
          </a:prstGeom>
          <a:noFill/>
          <a:ln w="1524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129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0%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" y="5212080"/>
            <a:ext cx="978408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408877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4%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1560" y="4171071"/>
            <a:ext cx="978408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02920" y="30477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8%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51560" y="3130062"/>
            <a:ext cx="978408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20067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12%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51560" y="2089052"/>
            <a:ext cx="978408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645920" y="4061765"/>
            <a:ext cx="777240" cy="1150315"/>
          </a:xfrm>
          <a:prstGeom prst="roundRect">
            <a:avLst>
              <a:gd name="adj" fmla="val 941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787445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4.42%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984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&lt;100 km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246120" y="3869178"/>
            <a:ext cx="777240" cy="1342902"/>
          </a:xfrm>
          <a:prstGeom prst="roundRect">
            <a:avLst>
              <a:gd name="adj" fmla="val 941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59485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5.16%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986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101–300 km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846320" y="3499620"/>
            <a:ext cx="777240" cy="1712460"/>
          </a:xfrm>
          <a:prstGeom prst="roundRect">
            <a:avLst>
              <a:gd name="adj" fmla="val 941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253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6.58%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988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301–500 km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446520" y="3372096"/>
            <a:ext cx="777240" cy="1839984"/>
          </a:xfrm>
          <a:prstGeom prst="roundRect">
            <a:avLst>
              <a:gd name="adj" fmla="val 941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0977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7.07%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90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501–1,000 km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046720" y="2737081"/>
            <a:ext cx="777240" cy="2474999"/>
          </a:xfrm>
          <a:prstGeom prst="roundRect">
            <a:avLst>
              <a:gd name="adj" fmla="val 9412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462761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9.51%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992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1,001–2,000 km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646920" y="2065630"/>
            <a:ext cx="777240" cy="3146450"/>
          </a:xfrm>
          <a:prstGeom prst="roundRect">
            <a:avLst>
              <a:gd name="adj" fmla="val 9412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179131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12.09%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99448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24B"/>
                </a:solidFill>
              </a:rPr>
              <a:t>&gt;2,000 km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92440" y="141732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F4F1"/>
          </a:solidFill>
          <a:ln w="12700">
            <a:solidFill>
              <a:srgbClr val="F7D4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16276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F4C"/>
                </a:solidFill>
              </a:rPr>
              <a:t>12.09%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208008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late rate beyond 2,000 km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</a:rPr>
              <a:t>vs 4.42% under 100 km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4C"/>
                </a:solidFill>
              </a:rPr>
              <a:t>Network implication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32B"/>
                </a:solidFill>
              </a:rPr>
              <a:t>Long-haul routes are not just slower — they are materially riskier.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is a secondary lever, not the main story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Category late rates cluster tightly; heavy shipments show a modest but real uplift.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Category late-rate range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743200"/>
            <a:ext cx="5669280" cy="0"/>
          </a:xfrm>
          <a:prstGeom prst="line">
            <a:avLst/>
          </a:prstGeom>
          <a:noFill/>
          <a:ln w="25400">
            <a:solidFill>
              <a:srgbClr val="D9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2670048"/>
            <a:ext cx="146304" cy="146304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4848" y="2670048"/>
            <a:ext cx="146304" cy="146304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9CDB"/>
                </a:solidFill>
              </a:rPr>
              <a:t>4.32%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5F4C"/>
                </a:solidFill>
              </a:rPr>
              <a:t>8.05%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</a:rPr>
              <a:t>≈ 3.7 ppt spread across categories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2668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Late rate by weight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1856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24B"/>
                </a:solidFill>
              </a:rPr>
              <a:t>0–1 kg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549640" y="182880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828800"/>
            <a:ext cx="1299545" cy="256032"/>
          </a:xfrm>
          <a:prstGeom prst="roundRect">
            <a:avLst>
              <a:gd name="adj" fmla="val 214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18516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6.46%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26680" y="2423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24B"/>
                </a:solidFill>
              </a:rPr>
              <a:t>1–3 kg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239572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2395728"/>
            <a:ext cx="1394094" cy="256032"/>
          </a:xfrm>
          <a:prstGeom prst="roundRect">
            <a:avLst>
              <a:gd name="adj" fmla="val 214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24185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6.93%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26680" y="2990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24B"/>
                </a:solidFill>
              </a:rPr>
              <a:t>3–5 kg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549640" y="2962656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2962656"/>
            <a:ext cx="1394094" cy="256032"/>
          </a:xfrm>
          <a:prstGeom prst="roundRect">
            <a:avLst>
              <a:gd name="adj" fmla="val 214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0" y="29855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6.93%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26680" y="35570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24B"/>
                </a:solidFill>
              </a:rPr>
              <a:t>5–10 kg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49640" y="3529584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3529584"/>
            <a:ext cx="1420246" cy="256032"/>
          </a:xfrm>
          <a:prstGeom prst="roundRect">
            <a:avLst>
              <a:gd name="adj" fmla="val 21429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0" y="35524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7.06%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26680" y="41239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24B"/>
                </a:solidFill>
              </a:rPr>
              <a:t>&gt;10 kg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9640" y="40965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9640" y="4096512"/>
            <a:ext cx="1782348" cy="256032"/>
          </a:xfrm>
          <a:prstGeom prst="roundRect">
            <a:avLst>
              <a:gd name="adj" fmla="val 21429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0" y="41193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8.86%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3886200"/>
            <a:ext cx="6217920" cy="1234440"/>
          </a:xfrm>
          <a:prstGeom prst="roundRect">
            <a:avLst>
              <a:gd name="adj" fmla="val 5926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60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4C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45079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</a:rPr>
              <a:t>Category mix should not drive the first intervention. Focus the team on network variables first; treat heavy/bulky shipments as a targeted secondary workstream.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the network breaks under peak pressure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The late-rate spike in late 2017 / early 2018 coincides with longer carrier transit times.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212080"/>
            <a:ext cx="9875520" cy="0"/>
          </a:xfrm>
          <a:prstGeom prst="line">
            <a:avLst/>
          </a:prstGeom>
          <a:noFill/>
          <a:ln w="1524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0" cy="3566160"/>
          </a:xfrm>
          <a:prstGeom prst="line">
            <a:avLst/>
          </a:prstGeom>
          <a:noFill/>
          <a:ln w="1524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51389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0%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987552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5488" y="42473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4320540"/>
            <a:ext cx="987552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5488" y="33558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10%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987552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5488" y="24643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15%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537460"/>
            <a:ext cx="987552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" y="15727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C"/>
                </a:solidFill>
              </a:rPr>
              <a:t>20%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1645920"/>
            <a:ext cx="9875520" cy="0"/>
          </a:xfrm>
          <a:prstGeom prst="line">
            <a:avLst/>
          </a:prstGeom>
          <a:noFill/>
          <a:ln w="8890">
            <a:solidFill>
              <a:srgbClr val="E9EDF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234440" y="3978372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Apr-17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98448" y="4042380"/>
            <a:ext cx="914400" cy="672221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4650593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653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Jul-17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12848" y="4714601"/>
            <a:ext cx="914400" cy="-247848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4402745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97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Oct-17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27248" y="4466753"/>
            <a:ext cx="914400" cy="-1465692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937053"/>
            <a:ext cx="128016" cy="128016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2607869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5F4C"/>
                </a:solidFill>
              </a:rPr>
              <a:t>12.40%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941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Nov-17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041648" y="3001061"/>
            <a:ext cx="914400" cy="880842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817894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Dec-17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56048" y="3881902"/>
            <a:ext cx="914400" cy="313822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4131716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Jan-18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70448" y="4195724"/>
            <a:ext cx="914400" cy="-1503136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2628580"/>
            <a:ext cx="128016" cy="128016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229939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5F4C"/>
                </a:solidFill>
              </a:rPr>
              <a:t>14.13%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373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Feb-18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84848" y="2692588"/>
            <a:ext cx="914400" cy="-861228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35240" y="1767352"/>
            <a:ext cx="128016" cy="128016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97496" y="143816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5F4C"/>
                </a:solidFill>
              </a:rPr>
              <a:t>18.96%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517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Mar-18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99248" y="1831360"/>
            <a:ext cx="914400" cy="2578334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4345686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661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Apr-18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613648" y="4409694"/>
            <a:ext cx="914400" cy="595549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64040" y="4941235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05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Jun-18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528048" y="5005243"/>
            <a:ext cx="914400" cy="-896889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78440" y="4044345"/>
            <a:ext cx="128016" cy="128016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94976" y="53583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24B"/>
                </a:solidFill>
              </a:rPr>
              <a:t>Aug-18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138160" y="1508760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18.96%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372600" y="16824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CE3EE"/>
                </a:solidFill>
              </a:rPr>
              <a:t>March 2018 late rate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77240" y="13898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32B"/>
                </a:solidFill>
              </a:rPr>
              <a:t>Peak periods are a capacity problem, not just a seller discipline problem.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country-wide problem to a handful of priority lanes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High-impact lanes combine volume, above-benchmark lateness and meaningful excess late orders.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RJ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54480" y="1481328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481328"/>
            <a:ext cx="4689987" cy="274320"/>
          </a:xfrm>
          <a:prstGeom prst="roundRect">
            <a:avLst>
              <a:gd name="adj" fmla="val 23333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508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600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15087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14.13%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58200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8,161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BA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54480" y="1993392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1993392"/>
            <a:ext cx="1063064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0208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136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06640" y="2020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12.70%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2,300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5420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54480" y="2505456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505456"/>
            <a:ext cx="609698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532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78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06640" y="2532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12.13%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58200" y="2532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1,459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0540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3017520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017520"/>
            <a:ext cx="531532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044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68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06640" y="3044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13.78%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58200" y="3044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965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566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SC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54480" y="3529584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3529584"/>
            <a:ext cx="484632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5570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62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06640" y="35570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9.45%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58200" y="35570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2,329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4078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554480" y="4041648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54480" y="4041648"/>
            <a:ext cx="461182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4069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59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06640" y="4069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18.81%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58200" y="4069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489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5902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PR → RJ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554480" y="4553712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54480" y="4553712"/>
            <a:ext cx="398649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4581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51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06640" y="4581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12.00%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58200" y="45811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975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51023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SP → 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554480" y="5065776"/>
            <a:ext cx="4846320" cy="274320"/>
          </a:xfrm>
          <a:prstGeom prst="roundRect">
            <a:avLst>
              <a:gd name="adj" fmla="val 2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54480" y="5065776"/>
            <a:ext cx="343932" cy="274320"/>
          </a:xfrm>
          <a:prstGeom prst="roundRect">
            <a:avLst>
              <a:gd name="adj" fmla="val 23333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0528" y="5093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44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06640" y="50932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4324B"/>
                </a:solidFill>
              </a:rPr>
              <a:t>23.83%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458200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24B"/>
                </a:solidFill>
              </a:rPr>
              <a:t>256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554480" y="1161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Excess late orders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88352" y="1161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Late rate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458200" y="1161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C"/>
                </a:solidFill>
              </a:rPr>
              <a:t>Orders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555480" y="155448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FFF4F1"/>
          </a:solidFill>
          <a:ln w="12700">
            <a:solidFill>
              <a:srgbClr val="F7D4C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298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5F4C"/>
                </a:solidFill>
              </a:rPr>
              <a:t>15.23%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9802368" y="2615184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of all late orders are theoretically addressable in the top 10 lanes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765792" y="3657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C"/>
                </a:solidFill>
              </a:rPr>
              <a:t>Benchmark = network late rate of 6.77%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77240" y="5532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4C"/>
                </a:solidFill>
              </a:rPr>
              <a:t>Priority rule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627632" y="54681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</a:rPr>
              <a:t>Prioritize the lanes with the largest excess late orders — not simply the largest late-order count.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25F4C"/>
                </a:solidFill>
              </a:rPr>
              <a:t>THE DIAGNOSIS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primarily a network design &amp; capacity problem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901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0DE"/>
                </a:solidFill>
              </a:rPr>
              <a:t>The evidence stacks up in the same direction — and tells the operations team where to act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111C35"/>
          </a:solidFill>
          <a:ln w="12700">
            <a:solidFill>
              <a:srgbClr val="253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9260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8DA7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6968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5DDE9"/>
                </a:solidFill>
              </a:rPr>
              <a:t>Carrier transit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+19.91 days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86968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E9AB0"/>
                </a:solidFill>
              </a:rPr>
              <a:t>late vs on-time gap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502152" y="27432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111C35"/>
          </a:solidFill>
          <a:ln w="12700">
            <a:solidFill>
              <a:srgbClr val="25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260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8DA7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0332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5DDE9"/>
                </a:solidFill>
              </a:rPr>
              <a:t>Distance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12.09%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70332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E9AB0"/>
                </a:solidFill>
              </a:rPr>
              <a:t>late rate &gt;2,000 km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318504" y="27432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111C35"/>
          </a:solidFill>
          <a:ln w="12700">
            <a:solidFill>
              <a:srgbClr val="2532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9260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8DA7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19672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5DDE9"/>
                </a:solidFill>
              </a:rPr>
              <a:t>Peak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18.96%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519672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E9AB0"/>
                </a:solidFill>
              </a:rPr>
              <a:t>March 2018 late rate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134856" y="27432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111C35"/>
          </a:solidFill>
          <a:ln w="12700">
            <a:solidFill>
              <a:srgbClr val="2532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9260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8DA7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336024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5DDE9"/>
                </a:solidFill>
              </a:rPr>
              <a:t>Lane concentration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36024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5F4C"/>
                </a:solidFill>
              </a:rPr>
              <a:t>600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336024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E9AB0"/>
                </a:solidFill>
              </a:rPr>
              <a:t>SP→RJ excess late orders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85800" y="5230368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</a:rPr>
              <a:t>Secondary lever: seller handling (+3.04 days) and heavy shipments (&gt;10 kg: 8.86% late) are worth targeted fixes — but they should not distract from the network problem.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operations team should do next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</a:rPr>
              <a:t>A 90-day plan turns the analysis into controlled execution and measurable learning.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097280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81328"/>
            <a:ext cx="2834640" cy="4160520"/>
          </a:xfrm>
          <a:prstGeom prst="roundRect">
            <a:avLst>
              <a:gd name="adj" fmla="val 2581"/>
            </a:avLst>
          </a:prstGeom>
          <a:solidFill>
            <a:srgbClr val="F5F7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5F4C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44752" y="1719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B778C"/>
                </a:solidFill>
              </a:rPr>
              <a:t>0–30 DAYS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Diagnose &amp; design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1832" y="2852928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7432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Audit SP→RJ, SP→BA, SP→ES, SP→CE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1832" y="3602736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4930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Compare carriers, hubs, line-haul schedules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1832" y="4352544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Map planned vs actual transit by lane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41648" y="1481328"/>
            <a:ext cx="2834640" cy="4160520"/>
          </a:xfrm>
          <a:prstGeom prst="roundRect">
            <a:avLst>
              <a:gd name="adj" fmla="val 2581"/>
            </a:avLst>
          </a:prstGeom>
          <a:solidFill>
            <a:srgbClr val="FFF4F1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7190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5F4C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719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B778C"/>
                </a:solidFill>
              </a:rPr>
              <a:t>31–60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42816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Pilot &amp; learn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70248" y="2852928"/>
            <a:ext cx="118872" cy="118872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432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Reallocate carrier capacity on priority lanes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0248" y="3602736"/>
            <a:ext cx="118872" cy="118872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4930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Test dispatch cut-off / route changes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70248" y="4352544"/>
            <a:ext cx="118872" cy="118872"/>
          </a:xfrm>
          <a:prstGeom prst="ellipse">
            <a:avLst/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Create heavy-shipment handling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70064" y="1481328"/>
            <a:ext cx="2834640" cy="4160520"/>
          </a:xfrm>
          <a:prstGeom prst="roundRect">
            <a:avLst>
              <a:gd name="adj" fmla="val 2581"/>
            </a:avLst>
          </a:prstGeom>
          <a:solidFill>
            <a:srgbClr val="F3F8F6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17190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5F4C"/>
                </a:solidFill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01584" y="17190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B778C"/>
                </a:solidFill>
              </a:rPr>
              <a:t>61–90 DAYS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1232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Scale &amp; govern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98664" y="2852928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27432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Scale successful interventions to next lanes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98664" y="3602736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34930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Institutionalize peak-capacity planning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98664" y="4352544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8976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B"/>
                </a:solidFill>
              </a:rPr>
              <a:t>Run a monthly lane scorecard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8338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4C"/>
                </a:solidFill>
              </a:rPr>
              <a:t>Governance KPIs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5779008"/>
            <a:ext cx="77724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58384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Late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89504" y="5779008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35224" y="58384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Carrier transit days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79392" y="5779008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25112" y="58384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Excess late orders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42432" y="577900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88152" y="583844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Peak-period late 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32320" y="5779008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583844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Lane SLA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594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25F4C"/>
                </a:solidFill>
              </a:rPr>
              <a:t>THE PORTFOLIO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76656" y="114300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broad symptom became a focused execution agenda.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D9BB1"/>
                </a:solidFill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920240" y="22219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DDE9"/>
                </a:solidFill>
              </a:rPr>
              <a:t>6.77% of delivered orders missed the promise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20240" y="2770632"/>
            <a:ext cx="8138160" cy="0"/>
          </a:xfrm>
          <a:prstGeom prst="line">
            <a:avLst/>
          </a:prstGeom>
          <a:noFill/>
          <a:ln w="12700">
            <a:solidFill>
              <a:srgbClr val="2734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D9BB1"/>
                </a:solidFill>
              </a:rPr>
              <a:t>DECOMPOSE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3090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DDE9"/>
                </a:solidFill>
              </a:rPr>
              <a:t>Severity • geography • stage • distance • product • seasonality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20240" y="3639312"/>
            <a:ext cx="8138160" cy="0"/>
          </a:xfrm>
          <a:prstGeom prst="line">
            <a:avLst/>
          </a:prstGeom>
          <a:noFill/>
          <a:ln w="12700">
            <a:solidFill>
              <a:srgbClr val="2734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9776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D9BB1"/>
                </a:solidFill>
              </a:rPr>
              <a:t>INSIGHT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39593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DDE9"/>
                </a:solidFill>
              </a:rPr>
              <a:t>Carrier transit and specific lanes explain the largest gaps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0240" y="4507992"/>
            <a:ext cx="8138160" cy="0"/>
          </a:xfrm>
          <a:prstGeom prst="line">
            <a:avLst/>
          </a:prstGeom>
          <a:noFill/>
          <a:ln w="12700">
            <a:solidFill>
              <a:srgbClr val="2734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8463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25F4C"/>
                </a:solidFill>
              </a:rPr>
              <a:t>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Target high-excess lanes; redesign capacity and long-haul execution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5559552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F25F4C"/>
          </a:solidFill>
          <a:ln w="12700">
            <a:solidFill>
              <a:srgbClr val="F25F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57058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→ insight → 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Udit Gupta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5989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BB1"/>
                </a:solidFill>
              </a:rPr>
              <a:t>Portfolio project | Olist Brazilian e-commerce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0A5"/>
                </a:solidFill>
              </a:rPr>
              <a:t>Olist Brazil E-commerce | Python portfolio case study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390A5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Udit Gupta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Brazil Delivery Performance: From Problem to Action</dc:title>
  <dc:subject>Olist Brazil E-commerce Delivery Performance — Python Portfolio Project</dc:subject>
  <dc:creator>Udit Gupta</dc:creator>
  <cp:lastModifiedBy>Udit Gupta</cp:lastModifiedBy>
  <cp:revision>1</cp:revision>
  <dcterms:created xsi:type="dcterms:W3CDTF">2026-10-02T12:38:49Z</dcterms:created>
  <dcterms:modified xsi:type="dcterms:W3CDTF">2026-10-02T12:38:49Z</dcterms:modified>
</cp:coreProperties>
</file>